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9" r:id="rId11"/>
    <p:sldId id="270" r:id="rId12"/>
    <p:sldId id="268" r:id="rId13"/>
    <p:sldId id="267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62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9912368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ff2e58ee5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2cff2e58ee5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B511076-6380-AC19-8DE3-B24BC3D64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ff2e58ee5_0_9:notes">
            <a:extLst>
              <a:ext uri="{FF2B5EF4-FFF2-40B4-BE49-F238E27FC236}">
                <a16:creationId xmlns:a16="http://schemas.microsoft.com/office/drawing/2014/main" id="{19995395-8083-2951-1737-AEDA47A264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2cff2e58ee5_0_9:notes">
            <a:extLst>
              <a:ext uri="{FF2B5EF4-FFF2-40B4-BE49-F238E27FC236}">
                <a16:creationId xmlns:a16="http://schemas.microsoft.com/office/drawing/2014/main" id="{8321B938-6BC5-A507-9DB8-9BAAED2A50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264998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990035B4-EAA5-F88B-9EE3-E30C21525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ff2e58ee5_0_9:notes">
            <a:extLst>
              <a:ext uri="{FF2B5EF4-FFF2-40B4-BE49-F238E27FC236}">
                <a16:creationId xmlns:a16="http://schemas.microsoft.com/office/drawing/2014/main" id="{A744EEEE-B72C-38E0-C13A-E1EB9F8E43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2cff2e58ee5_0_9:notes">
            <a:extLst>
              <a:ext uri="{FF2B5EF4-FFF2-40B4-BE49-F238E27FC236}">
                <a16:creationId xmlns:a16="http://schemas.microsoft.com/office/drawing/2014/main" id="{7F074671-CA27-3F53-48C0-B26063D7DA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262088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7641372A-51C4-2B82-C8E1-149D6C6AF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ff2e58ee5_0_9:notes">
            <a:extLst>
              <a:ext uri="{FF2B5EF4-FFF2-40B4-BE49-F238E27FC236}">
                <a16:creationId xmlns:a16="http://schemas.microsoft.com/office/drawing/2014/main" id="{9EE495FB-26C5-F0D9-C6EA-2A3215DB58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2cff2e58ee5_0_9:notes">
            <a:extLst>
              <a:ext uri="{FF2B5EF4-FFF2-40B4-BE49-F238E27FC236}">
                <a16:creationId xmlns:a16="http://schemas.microsoft.com/office/drawing/2014/main" id="{37CD3C51-3092-7DC5-45FB-11C2EB35E0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1640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D7C89A98-4027-B882-0A1D-1C6F60F29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ff2e58ee5_0_9:notes">
            <a:extLst>
              <a:ext uri="{FF2B5EF4-FFF2-40B4-BE49-F238E27FC236}">
                <a16:creationId xmlns:a16="http://schemas.microsoft.com/office/drawing/2014/main" id="{D0220075-AE98-5E6A-8CD3-9CBA7C3568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2cff2e58ee5_0_9:notes">
            <a:extLst>
              <a:ext uri="{FF2B5EF4-FFF2-40B4-BE49-F238E27FC236}">
                <a16:creationId xmlns:a16="http://schemas.microsoft.com/office/drawing/2014/main" id="{72601DF4-C49E-2A2C-0379-5F04AD60B65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5219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BC1E859F-856C-B3E1-EEBA-1BE028C51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ff2e58ee5_0_9:notes">
            <a:extLst>
              <a:ext uri="{FF2B5EF4-FFF2-40B4-BE49-F238E27FC236}">
                <a16:creationId xmlns:a16="http://schemas.microsoft.com/office/drawing/2014/main" id="{CBF0F796-515B-DCDE-C2F5-391C9DC374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2cff2e58ee5_0_9:notes">
            <a:extLst>
              <a:ext uri="{FF2B5EF4-FFF2-40B4-BE49-F238E27FC236}">
                <a16:creationId xmlns:a16="http://schemas.microsoft.com/office/drawing/2014/main" id="{77C812DE-B276-66D9-6BAC-C9CCEB43C2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752031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6C991D50-2B78-07EC-E3C6-915C9DF63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ff2e58ee5_0_9:notes">
            <a:extLst>
              <a:ext uri="{FF2B5EF4-FFF2-40B4-BE49-F238E27FC236}">
                <a16:creationId xmlns:a16="http://schemas.microsoft.com/office/drawing/2014/main" id="{5AEEEA35-31FE-3FA2-CC1A-8F85B6B4A9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2cff2e58ee5_0_9:notes">
            <a:extLst>
              <a:ext uri="{FF2B5EF4-FFF2-40B4-BE49-F238E27FC236}">
                <a16:creationId xmlns:a16="http://schemas.microsoft.com/office/drawing/2014/main" id="{0013FA64-267B-F87B-1496-C0AD4282CE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4799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5E2DB6B2-EBF3-EB4F-6A62-4ABD13754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ff2e58ee5_0_9:notes">
            <a:extLst>
              <a:ext uri="{FF2B5EF4-FFF2-40B4-BE49-F238E27FC236}">
                <a16:creationId xmlns:a16="http://schemas.microsoft.com/office/drawing/2014/main" id="{D8AEF241-3803-09A4-6BE0-6128B84D81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2cff2e58ee5_0_9:notes">
            <a:extLst>
              <a:ext uri="{FF2B5EF4-FFF2-40B4-BE49-F238E27FC236}">
                <a16:creationId xmlns:a16="http://schemas.microsoft.com/office/drawing/2014/main" id="{6641FE03-8587-0E45-69EA-9BFBA4B3F9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69797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75FC9A1F-8F4B-069B-194C-E91A47E0E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cff2e58ee5_0_9:notes">
            <a:extLst>
              <a:ext uri="{FF2B5EF4-FFF2-40B4-BE49-F238E27FC236}">
                <a16:creationId xmlns:a16="http://schemas.microsoft.com/office/drawing/2014/main" id="{F94B0057-6967-D030-E8A4-9FEA1D8244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60" name="Google Shape;60;g2cff2e58ee5_0_9:notes">
            <a:extLst>
              <a:ext uri="{FF2B5EF4-FFF2-40B4-BE49-F238E27FC236}">
                <a16:creationId xmlns:a16="http://schemas.microsoft.com/office/drawing/2014/main" id="{BD77CB39-E4D8-7847-803D-F7E52924B3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3829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2541" y="128202"/>
            <a:ext cx="5689524" cy="970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b="1" dirty="0">
                <a:solidFill>
                  <a:schemeClr val="tx1"/>
                </a:solidFill>
              </a:rPr>
              <a:t>NexLattice: Secure, Plug&amp;play Offgrid </a:t>
            </a:r>
          </a:p>
          <a:p>
            <a:pPr lvl="0"/>
            <a:r>
              <a:rPr lang="en-US" sz="2400" b="1" dirty="0">
                <a:solidFill>
                  <a:schemeClr val="tx1"/>
                </a:solidFill>
              </a:rPr>
              <a:t>                     Wi-Fi Mesh for IoT</a:t>
            </a:r>
            <a:endParaRPr sz="2400" b="1" dirty="0">
              <a:solidFill>
                <a:schemeClr val="tx1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47620" y="65784"/>
            <a:ext cx="2096380" cy="97081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122842" y="2501097"/>
            <a:ext cx="3387047" cy="2642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Submitted by</a:t>
            </a:r>
            <a:endParaRPr sz="12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Debayangshu Sen</a:t>
            </a:r>
            <a:endParaRPr sz="1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Roll No.: ADTU/2022-26/BCS/049 </a:t>
            </a:r>
            <a:endParaRPr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B.Tech CSE 7</a:t>
            </a:r>
            <a:r>
              <a:rPr lang="en" sz="1200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Semester</a:t>
            </a:r>
            <a:endParaRPr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Vivek Upadhaya</a:t>
            </a:r>
            <a:endParaRPr sz="1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Roll No.: ADTU/2022-26/BCS/048 </a:t>
            </a:r>
            <a:endParaRPr sz="1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>
              <a:lnSpc>
                <a:spcPct val="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200" dirty="0" err="1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B.Tech</a:t>
            </a:r>
            <a:r>
              <a:rPr lang="en-US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CSE 7</a:t>
            </a:r>
            <a:r>
              <a:rPr lang="en-US" sz="1200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Semester</a:t>
            </a:r>
          </a:p>
          <a:p>
            <a:pPr lvl="0">
              <a:lnSpc>
                <a:spcPct val="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Rajdeep Roy</a:t>
            </a:r>
          </a:p>
          <a:p>
            <a:pPr lvl="0">
              <a:lnSpc>
                <a:spcPct val="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Roll No.: </a:t>
            </a:r>
            <a:r>
              <a:rPr lang="en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ADTU/2022-26/BCS/046</a:t>
            </a:r>
            <a:r>
              <a:rPr lang="en-US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0">
              <a:lnSpc>
                <a:spcPct val="50000"/>
              </a:lnSpc>
              <a:spcBef>
                <a:spcPts val="1200"/>
              </a:spcBef>
              <a:buClr>
                <a:schemeClr val="dk1"/>
              </a:buClr>
              <a:buSzPts val="1100"/>
            </a:pPr>
            <a:r>
              <a:rPr lang="en-US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B.Tech CSE 7</a:t>
            </a:r>
            <a:r>
              <a:rPr lang="en-US" sz="1200" baseline="30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</a:t>
            </a:r>
            <a:r>
              <a:rPr lang="en-US" sz="1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Semester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6669741" y="2292044"/>
            <a:ext cx="2378679" cy="224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u="sng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  <a:endParaRPr sz="1200" b="1" u="sng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lvl="0" algn="r">
              <a:lnSpc>
                <a:spcPct val="50000"/>
              </a:lnSpc>
              <a:spcBef>
                <a:spcPts val="1200"/>
              </a:spcBef>
            </a:pPr>
            <a:r>
              <a:rPr lang="en-US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Dr. Debashis Dev Misra</a:t>
            </a:r>
            <a:endParaRPr sz="1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r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Associate Professor</a:t>
            </a:r>
            <a:endParaRPr sz="1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r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of Computer Technology</a:t>
            </a:r>
            <a:endParaRPr sz="1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r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Assam down town University</a:t>
            </a:r>
            <a:endParaRPr sz="1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r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Guwahati-26, Assam.</a:t>
            </a:r>
            <a:endParaRPr sz="12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lvl="0" indent="0" algn="r" rtl="0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300" b="1" u="sng" dirty="0">
              <a:solidFill>
                <a:schemeClr val="tx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300" b="1" u="sng" dirty="0">
              <a:solidFill>
                <a:schemeClr val="tx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300" b="1" u="sng" dirty="0">
              <a:solidFill>
                <a:schemeClr val="tx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 u="sng" dirty="0">
              <a:solidFill>
                <a:schemeClr val="tx1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8D32A0-67E9-8C5A-F95C-DFDE453D40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98E365-109F-5EDE-E581-2403806F8B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CF3229-36C3-121B-E3FF-AC958F555C06}"/>
              </a:ext>
            </a:extLst>
          </p:cNvPr>
          <p:cNvSpPr txBox="1"/>
          <p:nvPr/>
        </p:nvSpPr>
        <p:spPr>
          <a:xfrm>
            <a:off x="0" y="131717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chemeClr val="tx1"/>
                </a:solidFill>
              </a:rPr>
              <a:t>Contents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A3F3BE-1F56-92E7-F8D3-20D41422119A}"/>
              </a:ext>
            </a:extLst>
          </p:cNvPr>
          <p:cNvSpPr txBox="1"/>
          <p:nvPr/>
        </p:nvSpPr>
        <p:spPr>
          <a:xfrm>
            <a:off x="0" y="707553"/>
            <a:ext cx="9144000" cy="3728393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/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Introduction ………………………………………………………………………………………………………………………………...…..3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Problem Statement ……………………………………………………………………………………………………………………………4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Theoretical Study ……………………………………………………………………………………………………………………………...5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Motivation ………………………………………………………………………………………………………………………………………6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Objectives ………………………………………………………………………………………………………………………………………7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Architecture Overview ………………………………………………………………………………………………………………………...8</a:t>
            </a:r>
          </a:p>
          <a:p>
            <a:pPr marL="342900" lvl="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200" dirty="0"/>
              <a:t>Project Structure </a:t>
            </a:r>
            <a:r>
              <a:rPr lang="en-US" sz="1200" dirty="0">
                <a:solidFill>
                  <a:schemeClr val="tx1"/>
                </a:solidFill>
              </a:rPr>
              <a:t>….………………………………………………………………………………………………………………………..….9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200" dirty="0"/>
              <a:t>Core Functionality …………………………………………………………………………………………………………………………....10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200" dirty="0"/>
              <a:t>Dashboard ...</a:t>
            </a:r>
            <a:r>
              <a:rPr lang="en-US" sz="1200" dirty="0">
                <a:solidFill>
                  <a:schemeClr val="tx1"/>
                </a:solidFill>
              </a:rPr>
              <a:t>………………………………………………………………………………………………………………………………….11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200" dirty="0"/>
              <a:t>References ..</a:t>
            </a:r>
            <a:r>
              <a:rPr lang="en-US" sz="1200" dirty="0">
                <a:solidFill>
                  <a:schemeClr val="tx1"/>
                </a:solidFill>
              </a:rPr>
              <a:t>………………………………………………………………………………………………………………………………….12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C1A9F23E-8806-F288-157A-6F772E33E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A87D08-98D8-8405-3695-A828D590C58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3C05BF-8082-DE2E-35E8-97B5AB52C895}"/>
              </a:ext>
            </a:extLst>
          </p:cNvPr>
          <p:cNvSpPr txBox="1"/>
          <p:nvPr/>
        </p:nvSpPr>
        <p:spPr>
          <a:xfrm>
            <a:off x="0" y="138441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chemeClr val="tx1"/>
                </a:solidFill>
              </a:rPr>
              <a:t>Introduction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34783D-6739-68A6-1911-5744CEDBFD54}"/>
              </a:ext>
            </a:extLst>
          </p:cNvPr>
          <p:cNvSpPr txBox="1"/>
          <p:nvPr/>
        </p:nvSpPr>
        <p:spPr>
          <a:xfrm>
            <a:off x="0" y="947386"/>
            <a:ext cx="9144000" cy="3368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[9] </a:t>
            </a:r>
            <a:r>
              <a:rPr lang="en-US" dirty="0"/>
              <a:t>The Internet of Things (IoT) has rapidly evolved into a network of billions of interconnected devices, but most current systems depend heavily on centralized servers or gateways.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[8] </a:t>
            </a:r>
            <a:r>
              <a:rPr lang="en-US" dirty="0"/>
              <a:t>This dependency creates latency, reliability, and security issues when connectivity is disrupted.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NexLattice</a:t>
            </a:r>
            <a:r>
              <a:rPr lang="en-US" dirty="0"/>
              <a:t> aims to overcome these challenges by proposing a lightweight, secure, and universally compatible Wi-Fi–based mesh networking layer for embedded IoT devices.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[6] </a:t>
            </a:r>
            <a:r>
              <a:rPr lang="en-US" dirty="0"/>
              <a:t>It focuses on enabling direct, peer-to-peer communication without relying on external infrastructure, ensuring low-latency and resilient data transfer across nodes.</a:t>
            </a:r>
          </a:p>
          <a:p>
            <a:pPr marL="171450" lvl="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1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1129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E39EB8FB-9268-0D15-6013-A8A0C9801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2B54AB-575B-16EC-49B0-3DF2CC2185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F6AEF6-38BB-B4A7-38E1-B003D30552F6}"/>
              </a:ext>
            </a:extLst>
          </p:cNvPr>
          <p:cNvSpPr txBox="1"/>
          <p:nvPr/>
        </p:nvSpPr>
        <p:spPr>
          <a:xfrm>
            <a:off x="0" y="131717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chemeClr val="tx1"/>
                </a:solidFill>
              </a:rPr>
              <a:t>Problem Statement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3EB1068-448D-2CFF-2559-6D0147854678}"/>
              </a:ext>
            </a:extLst>
          </p:cNvPr>
          <p:cNvSpPr/>
          <p:nvPr/>
        </p:nvSpPr>
        <p:spPr>
          <a:xfrm>
            <a:off x="202835" y="1092017"/>
            <a:ext cx="2712491" cy="17564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2B8028-A895-2294-16F7-8C59A59D5B5A}"/>
              </a:ext>
            </a:extLst>
          </p:cNvPr>
          <p:cNvSpPr/>
          <p:nvPr/>
        </p:nvSpPr>
        <p:spPr>
          <a:xfrm>
            <a:off x="6228677" y="1092017"/>
            <a:ext cx="2712490" cy="17564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B55BFD-5D56-1D52-46B7-1AF48FB72E62}"/>
              </a:ext>
            </a:extLst>
          </p:cNvPr>
          <p:cNvSpPr/>
          <p:nvPr/>
        </p:nvSpPr>
        <p:spPr>
          <a:xfrm>
            <a:off x="3131328" y="1092017"/>
            <a:ext cx="2881346" cy="17564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9FAB46-BE71-DF29-1289-808C16178199}"/>
              </a:ext>
            </a:extLst>
          </p:cNvPr>
          <p:cNvSpPr txBox="1"/>
          <p:nvPr/>
        </p:nvSpPr>
        <p:spPr>
          <a:xfrm>
            <a:off x="348649" y="1226311"/>
            <a:ext cx="23879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Lack of Universal Protocols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C19972-CBC9-B941-2C69-6C6A378731C4}"/>
              </a:ext>
            </a:extLst>
          </p:cNvPr>
          <p:cNvSpPr txBox="1"/>
          <p:nvPr/>
        </p:nvSpPr>
        <p:spPr>
          <a:xfrm>
            <a:off x="3375814" y="1221659"/>
            <a:ext cx="242085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Vendor Lock-in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986C6D-0FCC-2766-6CAB-0EE2A32C8F77}"/>
              </a:ext>
            </a:extLst>
          </p:cNvPr>
          <p:cNvSpPr txBox="1"/>
          <p:nvPr/>
        </p:nvSpPr>
        <p:spPr>
          <a:xfrm>
            <a:off x="6374493" y="1145767"/>
            <a:ext cx="24208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for Self-Healing Networks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E27CD56-7016-20A9-83AD-5721CEFEC0C7}"/>
              </a:ext>
            </a:extLst>
          </p:cNvPr>
          <p:cNvCxnSpPr/>
          <p:nvPr/>
        </p:nvCxnSpPr>
        <p:spPr>
          <a:xfrm>
            <a:off x="365097" y="1652267"/>
            <a:ext cx="23879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CC6119-15F5-F6BC-EB52-FFFAA6F92C84}"/>
              </a:ext>
            </a:extLst>
          </p:cNvPr>
          <p:cNvCxnSpPr/>
          <p:nvPr/>
        </p:nvCxnSpPr>
        <p:spPr>
          <a:xfrm>
            <a:off x="6408465" y="1665428"/>
            <a:ext cx="23879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9C9DEC6-00B2-D1C4-9030-9C07E46522E8}"/>
              </a:ext>
            </a:extLst>
          </p:cNvPr>
          <p:cNvCxnSpPr/>
          <p:nvPr/>
        </p:nvCxnSpPr>
        <p:spPr>
          <a:xfrm>
            <a:off x="3375814" y="1665436"/>
            <a:ext cx="238796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D53F82EE-F2FD-98C4-214D-45610074D92D}"/>
              </a:ext>
            </a:extLst>
          </p:cNvPr>
          <p:cNvSpPr txBox="1"/>
          <p:nvPr/>
        </p:nvSpPr>
        <p:spPr>
          <a:xfrm>
            <a:off x="365097" y="1776353"/>
            <a:ext cx="2387966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There's a lack of universal, secure, and lightweight Wi-Fi mesh protocols for IoT nodes.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0EE619D-A08D-A559-BF08-03A29BAB9725}"/>
              </a:ext>
            </a:extLst>
          </p:cNvPr>
          <p:cNvSpPr txBox="1"/>
          <p:nvPr/>
        </p:nvSpPr>
        <p:spPr>
          <a:xfrm>
            <a:off x="3408706" y="1783112"/>
            <a:ext cx="2387966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Current solutions often depend on vendor-specific technologies, creating integration challenges.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63FB9E-B9D6-4CBC-EF35-69283510BF4E}"/>
              </a:ext>
            </a:extLst>
          </p:cNvPr>
          <p:cNvSpPr txBox="1"/>
          <p:nvPr/>
        </p:nvSpPr>
        <p:spPr>
          <a:xfrm>
            <a:off x="6408465" y="1794263"/>
            <a:ext cx="2387966" cy="889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A need exists for a plug-and-play, self-healing network architecture for IoT ecosystems.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97EC3E9-D53B-45A0-C916-111E6AF534D5}"/>
              </a:ext>
            </a:extLst>
          </p:cNvPr>
          <p:cNvSpPr/>
          <p:nvPr/>
        </p:nvSpPr>
        <p:spPr>
          <a:xfrm>
            <a:off x="202835" y="2982943"/>
            <a:ext cx="8738331" cy="175643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37F4B7-E924-EFBE-C581-5946FB4F1AF7}"/>
              </a:ext>
            </a:extLst>
          </p:cNvPr>
          <p:cNvSpPr txBox="1"/>
          <p:nvPr/>
        </p:nvSpPr>
        <p:spPr>
          <a:xfrm>
            <a:off x="348649" y="3808904"/>
            <a:ext cx="8446702" cy="6121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/>
              <a:t>The lack of a plug-and-play</a:t>
            </a:r>
            <a:r>
              <a:rPr lang="en-US" sz="1200" b="1" dirty="0"/>
              <a:t> Wi-Fi mesh protocol</a:t>
            </a:r>
            <a:r>
              <a:rPr lang="en-US" sz="1200" dirty="0"/>
              <a:t> for embedded systems creates a critical gap that NexLattice aims to address by establishing a plug-and-play communication framework across multiple hardware platforms.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6FD8696B-A93B-6FA0-B780-26B30D5904E9}"/>
              </a:ext>
            </a:extLst>
          </p:cNvPr>
          <p:cNvCxnSpPr>
            <a:cxnSpLocks/>
          </p:cNvCxnSpPr>
          <p:nvPr/>
        </p:nvCxnSpPr>
        <p:spPr>
          <a:xfrm>
            <a:off x="422104" y="3632382"/>
            <a:ext cx="83074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D5E5194-6A29-95EA-0F88-97A1EC66556B}"/>
              </a:ext>
            </a:extLst>
          </p:cNvPr>
          <p:cNvSpPr txBox="1"/>
          <p:nvPr/>
        </p:nvSpPr>
        <p:spPr>
          <a:xfrm>
            <a:off x="422105" y="3160171"/>
            <a:ext cx="83074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Lack of plug-and-play </a:t>
            </a:r>
          </a:p>
        </p:txBody>
      </p:sp>
    </p:spTree>
    <p:extLst>
      <p:ext uri="{BB962C8B-B14F-4D97-AF65-F5344CB8AC3E}">
        <p14:creationId xmlns:p14="http://schemas.microsoft.com/office/powerpoint/2010/main" val="1134445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A4C00D8B-BDA6-B01C-6F41-D3EAD8051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89E07C5-A992-4534-5820-DA6113DC9A8B}"/>
              </a:ext>
            </a:extLst>
          </p:cNvPr>
          <p:cNvSpPr/>
          <p:nvPr/>
        </p:nvSpPr>
        <p:spPr>
          <a:xfrm>
            <a:off x="210509" y="3683628"/>
            <a:ext cx="4789088" cy="12725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1B3DFB-3745-9EB3-7983-4C158FF14CFA}"/>
              </a:ext>
            </a:extLst>
          </p:cNvPr>
          <p:cNvSpPr/>
          <p:nvPr/>
        </p:nvSpPr>
        <p:spPr>
          <a:xfrm>
            <a:off x="4493058" y="2351236"/>
            <a:ext cx="4528099" cy="12725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418719-7AD9-85BA-FF13-2F526E6DF9E5}"/>
              </a:ext>
            </a:extLst>
          </p:cNvPr>
          <p:cNvSpPr/>
          <p:nvPr/>
        </p:nvSpPr>
        <p:spPr>
          <a:xfrm>
            <a:off x="210509" y="1016366"/>
            <a:ext cx="4789088" cy="1272514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C067F9-EE7F-C994-0EE7-65313E97BF0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6F65652-7D91-B258-89B8-94E29BBACDC0}"/>
              </a:ext>
            </a:extLst>
          </p:cNvPr>
          <p:cNvSpPr txBox="1"/>
          <p:nvPr/>
        </p:nvSpPr>
        <p:spPr>
          <a:xfrm>
            <a:off x="0" y="131717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chemeClr val="tx1"/>
                </a:solidFill>
              </a:rPr>
              <a:t>Theoretical Study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3DE055-CCA4-BE3D-488B-2E4833CD2FA3}"/>
              </a:ext>
            </a:extLst>
          </p:cNvPr>
          <p:cNvSpPr txBox="1"/>
          <p:nvPr/>
        </p:nvSpPr>
        <p:spPr>
          <a:xfrm>
            <a:off x="0" y="616221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1600" dirty="0">
                <a:solidFill>
                  <a:schemeClr val="tx1"/>
                </a:solidFill>
              </a:rPr>
              <a:t>(Existing Framework Analysis)</a:t>
            </a:r>
            <a:endParaRPr lang="en-US" sz="105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2C6249E-EF0F-291F-5C03-27AF732BB859}"/>
              </a:ext>
            </a:extLst>
          </p:cNvPr>
          <p:cNvSpPr txBox="1"/>
          <p:nvPr/>
        </p:nvSpPr>
        <p:spPr>
          <a:xfrm>
            <a:off x="164460" y="1042678"/>
            <a:ext cx="4789088" cy="1489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LoRa Mesh : </a:t>
            </a:r>
            <a:r>
              <a:rPr lang="en-US" sz="1050" dirty="0"/>
              <a:t>[1] [2] [3] [4]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Study of LoRa Mesh to understand its application in long-range, low-power IoT networks including strengths and weaknesses.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Cons</a:t>
            </a:r>
            <a:r>
              <a:rPr lang="en-US" sz="1200" dirty="0"/>
              <a:t> </a:t>
            </a:r>
            <a:r>
              <a:rPr lang="en-US" sz="1200" b="1" dirty="0"/>
              <a:t>:</a:t>
            </a:r>
            <a:r>
              <a:rPr lang="en-US" sz="1200" dirty="0"/>
              <a:t> Very low speed, high latency, needs dedicated transceivers.</a:t>
            </a:r>
          </a:p>
          <a:p>
            <a:pPr>
              <a:lnSpc>
                <a:spcPct val="150000"/>
              </a:lnSpc>
            </a:pPr>
            <a:endParaRPr lang="en-US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5494E-E18A-7F7B-5DE0-FED76BBED66A}"/>
              </a:ext>
            </a:extLst>
          </p:cNvPr>
          <p:cNvSpPr txBox="1"/>
          <p:nvPr/>
        </p:nvSpPr>
        <p:spPr>
          <a:xfrm>
            <a:off x="4572000" y="2315192"/>
            <a:ext cx="4407540" cy="121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ZigBee : </a:t>
            </a:r>
            <a:r>
              <a:rPr lang="en-US" sz="1050" dirty="0"/>
              <a:t>[5] [10]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Investigation of ZigBee for its mesh capabilities, scalability, and secure communication protocols.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Cons</a:t>
            </a:r>
            <a:r>
              <a:rPr lang="en-US" sz="1200" dirty="0"/>
              <a:t> </a:t>
            </a:r>
            <a:r>
              <a:rPr lang="en-US" sz="1200" b="1" dirty="0"/>
              <a:t>:</a:t>
            </a:r>
            <a:r>
              <a:rPr lang="en-US" sz="1200" dirty="0"/>
              <a:t> Low data rate, short range, requires special hardware.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59BBE-D3F2-785D-CA7B-30C6D3C7BD1C}"/>
              </a:ext>
            </a:extLst>
          </p:cNvPr>
          <p:cNvSpPr txBox="1"/>
          <p:nvPr/>
        </p:nvSpPr>
        <p:spPr>
          <a:xfrm>
            <a:off x="164460" y="3659794"/>
            <a:ext cx="4407540" cy="1212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/>
              <a:t>ESP-Mesh : </a:t>
            </a:r>
            <a:r>
              <a:rPr lang="en-US" sz="1050" dirty="0"/>
              <a:t>[7] [11]</a:t>
            </a:r>
          </a:p>
          <a:p>
            <a:pPr>
              <a:lnSpc>
                <a:spcPct val="150000"/>
              </a:lnSpc>
            </a:pPr>
            <a:r>
              <a:rPr lang="en-US" sz="1200" dirty="0"/>
              <a:t>Analysis of ESP-Mesh, focusing on its advantages and limitations within the </a:t>
            </a:r>
            <a:r>
              <a:rPr lang="en-US" sz="1200" dirty="0" err="1"/>
              <a:t>Espressif</a:t>
            </a:r>
            <a:r>
              <a:rPr lang="en-US" sz="1200" dirty="0"/>
              <a:t> ecosystem.</a:t>
            </a:r>
          </a:p>
          <a:p>
            <a:pPr>
              <a:lnSpc>
                <a:spcPct val="150000"/>
              </a:lnSpc>
            </a:pPr>
            <a:r>
              <a:rPr lang="en-US" sz="1200" b="1" dirty="0"/>
              <a:t>Cons</a:t>
            </a:r>
            <a:r>
              <a:rPr lang="en-US" sz="1200" dirty="0"/>
              <a:t> </a:t>
            </a:r>
            <a:r>
              <a:rPr lang="en-US" sz="1200" b="1" dirty="0"/>
              <a:t>:</a:t>
            </a:r>
            <a:r>
              <a:rPr lang="en-US" sz="1200" dirty="0"/>
              <a:t> ESP-specific, not compatible with other Wi-Fi devices.</a:t>
            </a:r>
          </a:p>
        </p:txBody>
      </p:sp>
    </p:spTree>
    <p:extLst>
      <p:ext uri="{BB962C8B-B14F-4D97-AF65-F5344CB8AC3E}">
        <p14:creationId xmlns:p14="http://schemas.microsoft.com/office/powerpoint/2010/main" val="4132499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434847DB-2523-B0BA-65AC-92A290DBC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A2F2C-B882-1CF6-724E-23A39BFD1A7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B72593-9573-2156-136F-7EE6E2504895}"/>
              </a:ext>
            </a:extLst>
          </p:cNvPr>
          <p:cNvSpPr txBox="1"/>
          <p:nvPr/>
        </p:nvSpPr>
        <p:spPr>
          <a:xfrm>
            <a:off x="0" y="131717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chemeClr val="tx1"/>
                </a:solidFill>
              </a:rPr>
              <a:t>Motivation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C5A48F-5CF2-68D2-155A-3FE58F1E607C}"/>
              </a:ext>
            </a:extLst>
          </p:cNvPr>
          <p:cNvSpPr txBox="1"/>
          <p:nvPr/>
        </p:nvSpPr>
        <p:spPr>
          <a:xfrm>
            <a:off x="0" y="1251224"/>
            <a:ext cx="9143999" cy="304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motivation behind NexLattice stems from the increasing need for </a:t>
            </a:r>
            <a:r>
              <a:rPr lang="en-US" b="1" dirty="0"/>
              <a:t>secure, resilient, and infrastructure-independent</a:t>
            </a:r>
            <a:r>
              <a:rPr lang="en-US" dirty="0"/>
              <a:t> IoT communication.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Having experience in troubleshooting and understanding network behavior, we aims to design a solution that combines simplicity with technical strength.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The system will serve as a practical demonstration of how everyday Wi-Fi devices can self-organize into a reliable communication network—useful for smart cities, remote sensor deployments, and research applications and mainly </a:t>
            </a:r>
            <a:r>
              <a:rPr lang="en-US" dirty="0" err="1"/>
              <a:t>offgrid</a:t>
            </a:r>
            <a:r>
              <a:rPr lang="en-US" dirty="0"/>
              <a:t> settlers.</a:t>
            </a:r>
          </a:p>
        </p:txBody>
      </p:sp>
    </p:spTree>
    <p:extLst>
      <p:ext uri="{BB962C8B-B14F-4D97-AF65-F5344CB8AC3E}">
        <p14:creationId xmlns:p14="http://schemas.microsoft.com/office/powerpoint/2010/main" val="3252869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B3876678-9D9B-3407-8994-5141E0066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5D50F-377B-177C-A002-0FD14110A4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DCC7A4-0873-BD69-7C39-ADD39C4EBD68}"/>
              </a:ext>
            </a:extLst>
          </p:cNvPr>
          <p:cNvSpPr txBox="1"/>
          <p:nvPr/>
        </p:nvSpPr>
        <p:spPr>
          <a:xfrm>
            <a:off x="0" y="131717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chemeClr val="tx1"/>
                </a:solidFill>
              </a:rPr>
              <a:t>Objectives</a:t>
            </a:r>
            <a:endParaRPr lang="en-US" sz="1400" b="1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D9B86A-189A-06F9-6488-C9D684E1B17D}"/>
              </a:ext>
            </a:extLst>
          </p:cNvPr>
          <p:cNvSpPr txBox="1"/>
          <p:nvPr/>
        </p:nvSpPr>
        <p:spPr>
          <a:xfrm>
            <a:off x="180906" y="1345508"/>
            <a:ext cx="8782187" cy="3041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primary objective of NexLattice is to develop a </a:t>
            </a:r>
            <a:r>
              <a:rPr lang="en-US" b="1" dirty="0"/>
              <a:t>universal Wi-Fi mesh layer</a:t>
            </a:r>
            <a:r>
              <a:rPr lang="en-US" dirty="0"/>
              <a:t> that allows IoT devices to communicate securely and efficiently without relying on cloud infrastructure. </a:t>
            </a:r>
          </a:p>
          <a:p>
            <a:pPr>
              <a:lnSpc>
                <a:spcPct val="200000"/>
              </a:lnSpc>
            </a:pPr>
            <a:r>
              <a:rPr lang="en-US" dirty="0"/>
              <a:t>Specific goals include:</a:t>
            </a:r>
          </a:p>
          <a:p>
            <a:pPr marL="285750" lvl="8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Designing a </a:t>
            </a:r>
            <a:r>
              <a:rPr lang="en-US" b="1" dirty="0"/>
              <a:t>lightweight routing and discovery protocol</a:t>
            </a:r>
            <a:r>
              <a:rPr lang="en-US" dirty="0"/>
              <a:t> for embedded nodes.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Implementing </a:t>
            </a:r>
            <a:r>
              <a:rPr lang="en-US" b="1" dirty="0"/>
              <a:t>encryption and authentication mechanisms</a:t>
            </a:r>
            <a:r>
              <a:rPr lang="en-US" dirty="0"/>
              <a:t> to ensure data security.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Creating a </a:t>
            </a:r>
            <a:r>
              <a:rPr lang="en-US" b="1" dirty="0"/>
              <a:t>plug-and-play architecture</a:t>
            </a:r>
            <a:r>
              <a:rPr lang="en-US" dirty="0"/>
              <a:t> compatible with </a:t>
            </a:r>
            <a:r>
              <a:rPr lang="en-US" dirty="0" err="1"/>
              <a:t>MicroPython</a:t>
            </a:r>
            <a:r>
              <a:rPr lang="en-US" dirty="0"/>
              <a:t>-enabled devices.</a:t>
            </a:r>
          </a:p>
          <a:p>
            <a:pPr marL="2857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Building a </a:t>
            </a:r>
            <a:r>
              <a:rPr lang="en-US" b="1" dirty="0"/>
              <a:t>dashboard interface</a:t>
            </a:r>
            <a:r>
              <a:rPr lang="en-US" dirty="0"/>
              <a:t> to visualize node connections and communication flow.</a:t>
            </a:r>
          </a:p>
          <a:p>
            <a:pPr>
              <a:lnSpc>
                <a:spcPct val="2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323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9785184F-5D0D-7862-F2B5-8699D79FD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9E8BE-ED07-E705-B97D-6CEEAE8A90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76A010-D507-0F3D-71A8-84A4E8BFA76C}"/>
              </a:ext>
            </a:extLst>
          </p:cNvPr>
          <p:cNvSpPr txBox="1"/>
          <p:nvPr/>
        </p:nvSpPr>
        <p:spPr>
          <a:xfrm>
            <a:off x="234251" y="0"/>
            <a:ext cx="21774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 b="1" dirty="0">
                <a:solidFill>
                  <a:schemeClr val="tx1"/>
                </a:solidFill>
              </a:rPr>
              <a:t>Architecture</a:t>
            </a:r>
          </a:p>
          <a:p>
            <a:pPr lvl="0"/>
            <a:r>
              <a:rPr lang="en-US" sz="2400" b="1" dirty="0">
                <a:solidFill>
                  <a:schemeClr val="tx1"/>
                </a:solidFill>
              </a:rPr>
              <a:t>Overview</a:t>
            </a:r>
            <a:endParaRPr lang="en-US" sz="14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F8B6672-623D-AD2A-9A30-0E64671BA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2574" y="0"/>
            <a:ext cx="4906064" cy="5143500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2A11F037-D6CC-4F96-9B7D-0AC5B45582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251" y="1879252"/>
            <a:ext cx="2702984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Every node stores only simple information:</a:t>
            </a:r>
            <a:endParaRPr kumimoji="0" lang="en-US" altLang="en-US" sz="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Nearby node IDs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Their IPs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Last-seen time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Optional hop-distance</a:t>
            </a:r>
          </a:p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1100" dirty="0">
              <a:latin typeface="Google Sans Text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7C6F49D-2C6F-4BAC-8E05-4C5C1C03C0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623" y="3455637"/>
            <a:ext cx="3833101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Nodes </a:t>
            </a:r>
            <a:r>
              <a:rPr lang="en-US" altLang="en-US" sz="1100" b="1" dirty="0">
                <a:latin typeface="Google Sans Text"/>
              </a:rPr>
              <a:t>get shared key → </a:t>
            </a:r>
            <a:r>
              <a:rPr lang="en-US" altLang="en-US" sz="1100" dirty="0">
                <a:latin typeface="Google Sans Text"/>
              </a:rPr>
              <a:t>Nodes 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discover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→ build neighbor lists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b="1" dirty="0">
                <a:latin typeface="Google Sans Text"/>
              </a:rPr>
              <a:t>→ 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encrypt data 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→ hop data through the mesh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→ </a:t>
            </a:r>
            <a:r>
              <a:rPr kumimoji="0" lang="en-US" altLang="en-US" sz="11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Google Sans Text"/>
              </a:rPr>
              <a:t>reject unknown devices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077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ADCA2E6D-013E-5192-E856-6DDBC0240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66214E-695B-671F-51B4-A5CB34D702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3A62B0-1AC7-CA74-738E-545D9DB43CF6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chemeClr val="tx1"/>
                </a:solidFill>
              </a:rPr>
              <a:t>Project Structure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C6A3F32-30EB-7CD9-324E-2438214AF5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131" y="612706"/>
            <a:ext cx="5266501" cy="451270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16F6821-6E13-4BB9-A335-CA6BF501B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784" y="630791"/>
            <a:ext cx="5679193" cy="451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4064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81D9E7-ED55-463F-A2FD-60AB5A0907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3DFB67-47E2-4945-BB10-D96398DC02E4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chemeClr val="tx1"/>
                </a:solidFill>
              </a:rPr>
              <a:t>Core Functionality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4C3602-F019-4D01-BE5B-567AEFD2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8583" y="540892"/>
            <a:ext cx="6246833" cy="460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946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F6DAA-46B3-4A7F-9E7C-A8A14F6C57E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lang="e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6FE6B3-AE36-4D79-8609-DA490BD370F8}"/>
              </a:ext>
            </a:extLst>
          </p:cNvPr>
          <p:cNvSpPr txBox="1"/>
          <p:nvPr/>
        </p:nvSpPr>
        <p:spPr>
          <a:xfrm>
            <a:off x="0" y="0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chemeClr val="tx1"/>
                </a:solidFill>
              </a:rPr>
              <a:t>Dashboard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3050AA-9412-4455-ADA3-60956582B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731" y="469260"/>
            <a:ext cx="5908537" cy="467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57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5553-0F4D-407F-9F7C-658EB19E9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74625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BBF96-1CD7-44FD-AC49-3ED0A88AC9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74625"/>
            <a:ext cx="9144000" cy="4482192"/>
          </a:xfrm>
        </p:spPr>
        <p:txBody>
          <a:bodyPr>
            <a:normAutofit/>
          </a:bodyPr>
          <a:lstStyle/>
          <a:p>
            <a:pPr marL="91440" indent="0">
              <a:lnSpc>
                <a:spcPct val="100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[1] J. M. </a:t>
            </a:r>
            <a:r>
              <a:rPr lang="en-US" sz="900" dirty="0" err="1">
                <a:solidFill>
                  <a:schemeClr val="tx1"/>
                </a:solidFill>
              </a:rPr>
              <a:t>Solé</a:t>
            </a:r>
            <a:r>
              <a:rPr lang="en-US" sz="900" dirty="0">
                <a:solidFill>
                  <a:schemeClr val="tx1"/>
                </a:solidFill>
              </a:rPr>
              <a:t>, R. P. </a:t>
            </a:r>
            <a:r>
              <a:rPr lang="en-US" sz="900" dirty="0" err="1">
                <a:solidFill>
                  <a:schemeClr val="tx1"/>
                </a:solidFill>
              </a:rPr>
              <a:t>Centelles</a:t>
            </a:r>
            <a:r>
              <a:rPr lang="en-US" sz="900" dirty="0">
                <a:solidFill>
                  <a:schemeClr val="tx1"/>
                </a:solidFill>
              </a:rPr>
              <a:t>, F. Freitag, R. </a:t>
            </a:r>
            <a:r>
              <a:rPr lang="en-US" sz="900" dirty="0" err="1">
                <a:solidFill>
                  <a:schemeClr val="tx1"/>
                </a:solidFill>
              </a:rPr>
              <a:t>Meseguer</a:t>
            </a:r>
            <a:r>
              <a:rPr lang="en-US" sz="900" dirty="0">
                <a:solidFill>
                  <a:schemeClr val="tx1"/>
                </a:solidFill>
              </a:rPr>
              <a:t>, and R. </a:t>
            </a:r>
            <a:r>
              <a:rPr lang="en-US" sz="900" dirty="0" err="1">
                <a:solidFill>
                  <a:schemeClr val="tx1"/>
                </a:solidFill>
              </a:rPr>
              <a:t>Baig</a:t>
            </a:r>
            <a:r>
              <a:rPr lang="en-US" sz="900" dirty="0">
                <a:solidFill>
                  <a:schemeClr val="tx1"/>
                </a:solidFill>
              </a:rPr>
              <a:t>, “Middleware for Distributed Applications in a </a:t>
            </a:r>
            <a:r>
              <a:rPr lang="en-US" sz="900" dirty="0" err="1">
                <a:solidFill>
                  <a:schemeClr val="tx1"/>
                </a:solidFill>
              </a:rPr>
              <a:t>LoRa</a:t>
            </a:r>
            <a:r>
              <a:rPr lang="en-US" sz="900" dirty="0">
                <a:solidFill>
                  <a:schemeClr val="tx1"/>
                </a:solidFill>
              </a:rPr>
              <a:t> Mesh Network,” ACM Transactions on Embedded Computing Systems, vol. 24, no. 4, Art. 60, pp. 1– 26, Jul. 2025. </a:t>
            </a:r>
            <a:r>
              <a:rPr lang="en-US" sz="900" dirty="0" err="1">
                <a:solidFill>
                  <a:schemeClr val="tx1"/>
                </a:solidFill>
              </a:rPr>
              <a:t>doi</a:t>
            </a:r>
            <a:r>
              <a:rPr lang="en-US" sz="900" dirty="0">
                <a:solidFill>
                  <a:schemeClr val="tx1"/>
                </a:solidFill>
              </a:rPr>
              <a:t>: 10.1145/3747295</a:t>
            </a:r>
          </a:p>
          <a:p>
            <a:pPr marL="91440" indent="0">
              <a:lnSpc>
                <a:spcPct val="100000"/>
              </a:lnSpc>
              <a:buNone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0">
              <a:lnSpc>
                <a:spcPct val="100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[2] R. </a:t>
            </a:r>
            <a:r>
              <a:rPr lang="en-US" sz="900" dirty="0" err="1">
                <a:solidFill>
                  <a:schemeClr val="tx1"/>
                </a:solidFill>
              </a:rPr>
              <a:t>Berto</a:t>
            </a:r>
            <a:r>
              <a:rPr lang="en-US" sz="900" dirty="0">
                <a:solidFill>
                  <a:schemeClr val="tx1"/>
                </a:solidFill>
              </a:rPr>
              <a:t>, P. </a:t>
            </a:r>
            <a:r>
              <a:rPr lang="en-US" sz="900" dirty="0" err="1">
                <a:solidFill>
                  <a:schemeClr val="tx1"/>
                </a:solidFill>
              </a:rPr>
              <a:t>Napoletano</a:t>
            </a:r>
            <a:r>
              <a:rPr lang="en-US" sz="900" dirty="0">
                <a:solidFill>
                  <a:schemeClr val="tx1"/>
                </a:solidFill>
              </a:rPr>
              <a:t>, and M. </a:t>
            </a:r>
            <a:r>
              <a:rPr lang="en-US" sz="900" dirty="0" err="1">
                <a:solidFill>
                  <a:schemeClr val="tx1"/>
                </a:solidFill>
              </a:rPr>
              <a:t>Savi</a:t>
            </a:r>
            <a:r>
              <a:rPr lang="en-US" sz="900" dirty="0">
                <a:solidFill>
                  <a:schemeClr val="tx1"/>
                </a:solidFill>
              </a:rPr>
              <a:t>, “A </a:t>
            </a:r>
            <a:r>
              <a:rPr lang="en-US" sz="900" dirty="0" err="1">
                <a:solidFill>
                  <a:schemeClr val="tx1"/>
                </a:solidFill>
              </a:rPr>
              <a:t>LoRa</a:t>
            </a:r>
            <a:r>
              <a:rPr lang="en-US" sz="900" dirty="0">
                <a:solidFill>
                  <a:schemeClr val="tx1"/>
                </a:solidFill>
              </a:rPr>
              <a:t>-Based Mesh Network for Peer-to-Peer Long-Range Communication,” Sensors, vol. 21, no. 13, p. 4314, Jul. 2021. </a:t>
            </a:r>
            <a:r>
              <a:rPr lang="en-US" sz="900" dirty="0" err="1">
                <a:solidFill>
                  <a:schemeClr val="tx1"/>
                </a:solidFill>
              </a:rPr>
              <a:t>doi</a:t>
            </a:r>
            <a:r>
              <a:rPr lang="en-US" sz="900" dirty="0">
                <a:solidFill>
                  <a:schemeClr val="tx1"/>
                </a:solidFill>
              </a:rPr>
              <a:t>: 10.3390/s21134314</a:t>
            </a:r>
          </a:p>
          <a:p>
            <a:pPr marL="91440" indent="0">
              <a:lnSpc>
                <a:spcPct val="100000"/>
              </a:lnSpc>
              <a:buNone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0">
              <a:lnSpc>
                <a:spcPct val="100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[3] N. L. </a:t>
            </a:r>
            <a:r>
              <a:rPr lang="en-US" sz="900" dirty="0" err="1">
                <a:solidFill>
                  <a:schemeClr val="tx1"/>
                </a:solidFill>
              </a:rPr>
              <a:t>Giménez</a:t>
            </a:r>
            <a:r>
              <a:rPr lang="en-US" sz="900" dirty="0">
                <a:solidFill>
                  <a:schemeClr val="tx1"/>
                </a:solidFill>
              </a:rPr>
              <a:t> et al., “Embedded Federated Learning over a </a:t>
            </a:r>
            <a:r>
              <a:rPr lang="en-US" sz="900" dirty="0" err="1">
                <a:solidFill>
                  <a:schemeClr val="tx1"/>
                </a:solidFill>
              </a:rPr>
              <a:t>LoRa</a:t>
            </a:r>
            <a:r>
              <a:rPr lang="en-US" sz="900" dirty="0">
                <a:solidFill>
                  <a:schemeClr val="tx1"/>
                </a:solidFill>
              </a:rPr>
              <a:t> Mesh Network,” Pervasive and Mobile Computing, vol. 91, p. 101819, 2023. </a:t>
            </a:r>
            <a:r>
              <a:rPr lang="en-US" sz="900" dirty="0" err="1">
                <a:solidFill>
                  <a:schemeClr val="tx1"/>
                </a:solidFill>
              </a:rPr>
              <a:t>doi</a:t>
            </a:r>
            <a:r>
              <a:rPr lang="en-US" sz="900" dirty="0">
                <a:solidFill>
                  <a:schemeClr val="tx1"/>
                </a:solidFill>
              </a:rPr>
              <a:t>: 10.1016/j.pmcj.2023.101819</a:t>
            </a:r>
          </a:p>
          <a:p>
            <a:pPr marL="91440" indent="0">
              <a:lnSpc>
                <a:spcPct val="100000"/>
              </a:lnSpc>
              <a:buNone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0">
              <a:lnSpc>
                <a:spcPct val="100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[4] Z. Sun et al., “Recent Advances in </a:t>
            </a:r>
            <a:r>
              <a:rPr lang="en-US" sz="900" dirty="0" err="1">
                <a:solidFill>
                  <a:schemeClr val="tx1"/>
                </a:solidFill>
              </a:rPr>
              <a:t>LoRa</a:t>
            </a:r>
            <a:r>
              <a:rPr lang="en-US" sz="900" dirty="0">
                <a:solidFill>
                  <a:schemeClr val="tx1"/>
                </a:solidFill>
              </a:rPr>
              <a:t>: A Comprehensive Survey,” ACM Computing Surveys, vol. 55, no. 12, Art. 243, pp. 1–35, Dec. 2022. </a:t>
            </a:r>
            <a:r>
              <a:rPr lang="en-US" sz="900" dirty="0" err="1">
                <a:solidFill>
                  <a:schemeClr val="tx1"/>
                </a:solidFill>
              </a:rPr>
              <a:t>doi</a:t>
            </a:r>
            <a:r>
              <a:rPr lang="en-US" sz="900" dirty="0">
                <a:solidFill>
                  <a:schemeClr val="tx1"/>
                </a:solidFill>
              </a:rPr>
              <a:t>: 10.1145/3543856</a:t>
            </a:r>
          </a:p>
          <a:p>
            <a:pPr marL="91440" indent="0">
              <a:lnSpc>
                <a:spcPct val="100000"/>
              </a:lnSpc>
              <a:buNone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0">
              <a:lnSpc>
                <a:spcPct val="100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[5] W. Wang, G. He and J. Wan, "Research on Zigbee wireless communication technology," 2011 International Conference on Electrical and Control Engineering, Yichang, China, 2011, pp. 1245-1249, </a:t>
            </a:r>
            <a:r>
              <a:rPr lang="en-US" sz="900" dirty="0" err="1">
                <a:solidFill>
                  <a:schemeClr val="tx1"/>
                </a:solidFill>
              </a:rPr>
              <a:t>doi</a:t>
            </a:r>
            <a:r>
              <a:rPr lang="en-US" sz="900" dirty="0">
                <a:solidFill>
                  <a:schemeClr val="tx1"/>
                </a:solidFill>
              </a:rPr>
              <a:t>: 10.1109/ICECENG.2011.6057961.</a:t>
            </a:r>
          </a:p>
          <a:p>
            <a:pPr marL="91440" indent="0">
              <a:lnSpc>
                <a:spcPct val="100000"/>
              </a:lnSpc>
              <a:buNone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0">
              <a:lnSpc>
                <a:spcPct val="100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[6] J. </a:t>
            </a:r>
            <a:r>
              <a:rPr lang="en-US" sz="900" dirty="0" err="1">
                <a:solidFill>
                  <a:schemeClr val="tx1"/>
                </a:solidFill>
              </a:rPr>
              <a:t>Bicket</a:t>
            </a:r>
            <a:r>
              <a:rPr lang="en-US" sz="900" dirty="0">
                <a:solidFill>
                  <a:schemeClr val="tx1"/>
                </a:solidFill>
              </a:rPr>
              <a:t>, D. Aguayo, S. Biswas, and R. Morris, “Architecture and Evaluation of an Unplanned 802.11b Mesh Network,” in Proc. of </a:t>
            </a:r>
            <a:r>
              <a:rPr lang="en-US" sz="900" dirty="0" err="1">
                <a:solidFill>
                  <a:schemeClr val="tx1"/>
                </a:solidFill>
              </a:rPr>
              <a:t>MobiCom</a:t>
            </a:r>
            <a:r>
              <a:rPr lang="en-US" sz="900" dirty="0">
                <a:solidFill>
                  <a:schemeClr val="tx1"/>
                </a:solidFill>
              </a:rPr>
              <a:t> 2005, Cologne, Germany, Sep. 2005.</a:t>
            </a:r>
          </a:p>
          <a:p>
            <a:pPr marL="91440" indent="0">
              <a:lnSpc>
                <a:spcPct val="100000"/>
              </a:lnSpc>
              <a:buNone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0">
              <a:lnSpc>
                <a:spcPct val="100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[7] </a:t>
            </a:r>
            <a:r>
              <a:rPr lang="en-US" sz="900" dirty="0" err="1">
                <a:solidFill>
                  <a:schemeClr val="tx1"/>
                </a:solidFill>
              </a:rPr>
              <a:t>Espressif</a:t>
            </a:r>
            <a:r>
              <a:rPr lang="en-US" sz="900" dirty="0">
                <a:solidFill>
                  <a:schemeClr val="tx1"/>
                </a:solidFill>
              </a:rPr>
              <a:t> Systems, “ESP-MESH: Networking Solution Based on ESP32,” 2020. [Online]. Available: https://docs.espressif.com</a:t>
            </a:r>
          </a:p>
          <a:p>
            <a:pPr marL="91440" indent="0">
              <a:lnSpc>
                <a:spcPct val="100000"/>
              </a:lnSpc>
              <a:buNone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0">
              <a:lnSpc>
                <a:spcPct val="100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[8] S. </a:t>
            </a:r>
            <a:r>
              <a:rPr lang="en-US" sz="900" dirty="0" err="1">
                <a:solidFill>
                  <a:schemeClr val="tx1"/>
                </a:solidFill>
              </a:rPr>
              <a:t>Sicari</a:t>
            </a:r>
            <a:r>
              <a:rPr lang="en-US" sz="900" dirty="0">
                <a:solidFill>
                  <a:schemeClr val="tx1"/>
                </a:solidFill>
              </a:rPr>
              <a:t>, A. </a:t>
            </a:r>
            <a:r>
              <a:rPr lang="en-US" sz="900" dirty="0" err="1">
                <a:solidFill>
                  <a:schemeClr val="tx1"/>
                </a:solidFill>
              </a:rPr>
              <a:t>Rizzardi</a:t>
            </a:r>
            <a:r>
              <a:rPr lang="en-US" sz="900" dirty="0">
                <a:solidFill>
                  <a:schemeClr val="tx1"/>
                </a:solidFill>
              </a:rPr>
              <a:t>, L. A. </a:t>
            </a:r>
            <a:r>
              <a:rPr lang="en-US" sz="900" dirty="0" err="1">
                <a:solidFill>
                  <a:schemeClr val="tx1"/>
                </a:solidFill>
              </a:rPr>
              <a:t>Grieco</a:t>
            </a:r>
            <a:r>
              <a:rPr lang="en-US" sz="900" dirty="0">
                <a:solidFill>
                  <a:schemeClr val="tx1"/>
                </a:solidFill>
              </a:rPr>
              <a:t>, and A. Coen-</a:t>
            </a:r>
            <a:r>
              <a:rPr lang="en-US" sz="900" dirty="0" err="1">
                <a:solidFill>
                  <a:schemeClr val="tx1"/>
                </a:solidFill>
              </a:rPr>
              <a:t>Porisini</a:t>
            </a:r>
            <a:r>
              <a:rPr lang="en-US" sz="900" dirty="0">
                <a:solidFill>
                  <a:schemeClr val="tx1"/>
                </a:solidFill>
              </a:rPr>
              <a:t>, “Security, Privacy and Trust in Internet of Things: The Road Ahead,” Computer Networks, vol. 76, pp. 146–164, 2015.</a:t>
            </a:r>
          </a:p>
          <a:p>
            <a:pPr marL="91440" indent="0">
              <a:lnSpc>
                <a:spcPct val="100000"/>
              </a:lnSpc>
              <a:buNone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0">
              <a:lnSpc>
                <a:spcPct val="100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[9] E. Fernandes, J. Jung, and A. Prakash, “Security Analysis of Emerging Smart Home Applications,” in Proc. of IEEE Security and Privacy (SP), San Jose, CA, 2016.</a:t>
            </a:r>
          </a:p>
          <a:p>
            <a:pPr marL="91440" indent="0">
              <a:lnSpc>
                <a:spcPct val="100000"/>
              </a:lnSpc>
              <a:buNone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0">
              <a:lnSpc>
                <a:spcPct val="100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[10] C. M. Ramya, M. </a:t>
            </a:r>
            <a:r>
              <a:rPr lang="en-US" sz="900" dirty="0" err="1">
                <a:solidFill>
                  <a:schemeClr val="tx1"/>
                </a:solidFill>
              </a:rPr>
              <a:t>Shanmugaraj</a:t>
            </a:r>
            <a:r>
              <a:rPr lang="en-US" sz="900" dirty="0">
                <a:solidFill>
                  <a:schemeClr val="tx1"/>
                </a:solidFill>
              </a:rPr>
              <a:t> and R. </a:t>
            </a:r>
            <a:r>
              <a:rPr lang="en-US" sz="900" dirty="0" err="1">
                <a:solidFill>
                  <a:schemeClr val="tx1"/>
                </a:solidFill>
              </a:rPr>
              <a:t>Prabakaran</a:t>
            </a:r>
            <a:r>
              <a:rPr lang="en-US" sz="900" dirty="0">
                <a:solidFill>
                  <a:schemeClr val="tx1"/>
                </a:solidFill>
              </a:rPr>
              <a:t>, "Study on ZigBee technology," 2011 3rd International Conference on Electronics Computer Technology, Kanyakumari, India, 2011, pp. 297-301, </a:t>
            </a:r>
            <a:r>
              <a:rPr lang="en-US" sz="900" dirty="0" err="1">
                <a:solidFill>
                  <a:schemeClr val="tx1"/>
                </a:solidFill>
              </a:rPr>
              <a:t>doi</a:t>
            </a:r>
            <a:r>
              <a:rPr lang="en-US" sz="900" dirty="0">
                <a:solidFill>
                  <a:schemeClr val="tx1"/>
                </a:solidFill>
              </a:rPr>
              <a:t>: 10.1109/ICECTECH.2011.5942102.</a:t>
            </a:r>
          </a:p>
          <a:p>
            <a:pPr marL="91440" indent="0">
              <a:lnSpc>
                <a:spcPct val="100000"/>
              </a:lnSpc>
              <a:buNone/>
            </a:pPr>
            <a:endParaRPr lang="en-US" sz="900" dirty="0">
              <a:solidFill>
                <a:schemeClr val="tx1"/>
              </a:solidFill>
            </a:endParaRPr>
          </a:p>
          <a:p>
            <a:pPr marL="91440" indent="0">
              <a:lnSpc>
                <a:spcPct val="100000"/>
              </a:lnSpc>
              <a:buNone/>
            </a:pPr>
            <a:r>
              <a:rPr lang="en-US" sz="900" dirty="0">
                <a:solidFill>
                  <a:schemeClr val="tx1"/>
                </a:solidFill>
              </a:rPr>
              <a:t>[11] A. N. A. A. Aziz, R. A. Rashid, M. N. M. Nasir and M. A. </a:t>
            </a:r>
            <a:r>
              <a:rPr lang="en-US" sz="900" dirty="0" err="1">
                <a:solidFill>
                  <a:schemeClr val="tx1"/>
                </a:solidFill>
              </a:rPr>
              <a:t>Sarijari</a:t>
            </a:r>
            <a:r>
              <a:rPr lang="en-US" sz="900" dirty="0">
                <a:solidFill>
                  <a:schemeClr val="tx1"/>
                </a:solidFill>
              </a:rPr>
              <a:t>, "ESP Mesh Network for Security Application," 2024 IEEE International Conference on Advanced Telecommunication and Networking Technologies (ATNT), Johor Bahru, Malaysia, 2024, pp. 1-4, </a:t>
            </a:r>
            <a:r>
              <a:rPr lang="en-US" sz="900" dirty="0" err="1">
                <a:solidFill>
                  <a:schemeClr val="tx1"/>
                </a:solidFill>
              </a:rPr>
              <a:t>doi</a:t>
            </a:r>
            <a:r>
              <a:rPr lang="en-US" sz="900" dirty="0">
                <a:solidFill>
                  <a:schemeClr val="tx1"/>
                </a:solidFill>
              </a:rPr>
              <a:t>: 10.1109/ATNT61688.2024.10719207.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FFEFDA-8D51-4DEC-AA1B-BD4FD4A8BBC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701821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A69007AD-EED8-B015-9587-8A86513B8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F67869-E860-E8A1-20E2-BC035C5DA4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lang="e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580E5E-2F58-C34A-C7C0-E8A403616FC4}"/>
              </a:ext>
            </a:extLst>
          </p:cNvPr>
          <p:cNvSpPr txBox="1"/>
          <p:nvPr/>
        </p:nvSpPr>
        <p:spPr>
          <a:xfrm>
            <a:off x="0" y="2110085"/>
            <a:ext cx="9144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2400" b="1" dirty="0">
                <a:solidFill>
                  <a:schemeClr val="tx1"/>
                </a:solidFill>
              </a:rPr>
              <a:t>Thank You</a:t>
            </a:r>
            <a:endParaRPr lang="en-US" sz="1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43641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</TotalTime>
  <Words>1215</Words>
  <Application>Microsoft Office PowerPoint</Application>
  <PresentationFormat>On-screen Show (16:9)</PresentationFormat>
  <Paragraphs>116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Google Sans Text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Clame Sys</cp:lastModifiedBy>
  <cp:revision>31</cp:revision>
  <dcterms:modified xsi:type="dcterms:W3CDTF">2025-12-05T02:38:27Z</dcterms:modified>
</cp:coreProperties>
</file>