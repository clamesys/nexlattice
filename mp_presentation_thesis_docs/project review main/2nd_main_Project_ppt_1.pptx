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8" r:id="rId5"/>
    <p:sldId id="274" r:id="rId6"/>
    <p:sldId id="259" r:id="rId7"/>
    <p:sldId id="261" r:id="rId8"/>
    <p:sldId id="270" r:id="rId9"/>
    <p:sldId id="262" r:id="rId10"/>
    <p:sldId id="263" r:id="rId11"/>
    <p:sldId id="273" r:id="rId12"/>
    <p:sldId id="267" r:id="rId13"/>
    <p:sldId id="268" r:id="rId14"/>
    <p:sldId id="276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62" autoAdjust="0"/>
  </p:normalViewPr>
  <p:slideViewPr>
    <p:cSldViewPr snapToGrid="0">
      <p:cViewPr varScale="1">
        <p:scale>
          <a:sx n="110" d="100"/>
          <a:sy n="110" d="100"/>
        </p:scale>
        <p:origin x="6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01DDD-8369-4BD1-B144-12E33F7F8D7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9A9CF-9678-4520-B854-2CC49AC953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8963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178" y="1165163"/>
            <a:ext cx="9484659" cy="1200329"/>
          </a:xfrm>
        </p:spPr>
        <p:txBody>
          <a:bodyPr>
            <a:normAutofit fontScale="92500"/>
          </a:bodyPr>
          <a:lstStyle/>
          <a:p>
            <a:r>
              <a:rPr lang="en-US" sz="2100" dirty="0">
                <a:latin typeface="+mj-lt"/>
              </a:rPr>
              <a:t>A Project Presentation submitted in partial fulfilment of the requirements for the degree of </a:t>
            </a:r>
          </a:p>
          <a:p>
            <a:r>
              <a:rPr lang="en-US" sz="2200" dirty="0">
                <a:latin typeface="Britannic Bold" panose="020B0903060703020204" pitchFamily="34" charset="0"/>
              </a:rPr>
              <a:t>Bachelor of Technology in Computer Science and Engineering</a:t>
            </a:r>
          </a:p>
          <a:p>
            <a:r>
              <a:rPr lang="en-US" sz="19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</a:p>
          <a:p>
            <a:endParaRPr lang="en-US" sz="2000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endParaRPr lang="en-US" sz="33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Britannic Bold" panose="020B0903060703020204" pitchFamily="34" charset="0"/>
            </a:endParaRPr>
          </a:p>
          <a:p>
            <a:endParaRPr lang="en-US" dirty="0">
              <a:latin typeface="Britannic Bold" panose="020B0903060703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03048" y="3204366"/>
            <a:ext cx="3576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Under the guidance of</a:t>
            </a:r>
          </a:p>
          <a:p>
            <a:pPr algn="ctr"/>
            <a:r>
              <a:rPr lang="en-US" b="1" dirty="0"/>
              <a:t>Dr. </a:t>
            </a:r>
            <a:r>
              <a:rPr lang="en-US" b="1" dirty="0" err="1"/>
              <a:t>Debashis</a:t>
            </a:r>
            <a:r>
              <a:rPr lang="en-US" b="1" dirty="0"/>
              <a:t> Dev </a:t>
            </a:r>
            <a:r>
              <a:rPr lang="en-US" b="1" dirty="0" err="1"/>
              <a:t>Misra</a:t>
            </a:r>
            <a:endParaRPr lang="en-US" b="1" dirty="0"/>
          </a:p>
          <a:p>
            <a:pPr algn="ctr"/>
            <a:r>
              <a:rPr lang="en-US" dirty="0"/>
              <a:t>Associate Professor</a:t>
            </a:r>
            <a:endParaRPr lang="en-US" sz="1800" b="1" dirty="0">
              <a:solidFill>
                <a:srgbClr val="000000"/>
              </a:solidFill>
              <a:latin typeface="Calibri" panose="020F0502020204030204" pitchFamily="34" charset="0"/>
              <a:ea typeface="Inter Medium"/>
              <a:cs typeface="Calibri" panose="020F0502020204030204" pitchFamily="34" charset="0"/>
              <a:sym typeface="Inter Medium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Dean </a:t>
            </a:r>
            <a:r>
              <a:rPr lang="en-US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I/C</a:t>
            </a:r>
            <a:endParaRPr lang="en-US" sz="1800" dirty="0">
              <a:solidFill>
                <a:srgbClr val="000000"/>
              </a:solidFill>
              <a:ea typeface="Inter Medium"/>
              <a:cs typeface="Inter Medium"/>
              <a:sym typeface="Inter Medium"/>
            </a:endParaRPr>
          </a:p>
          <a:p>
            <a:pPr algn="ctr"/>
            <a:endParaRPr lang="en-US" dirty="0"/>
          </a:p>
        </p:txBody>
      </p:sp>
      <p:sp>
        <p:nvSpPr>
          <p:cNvPr id="8" name="Freeform 2"/>
          <p:cNvSpPr/>
          <p:nvPr/>
        </p:nvSpPr>
        <p:spPr>
          <a:xfrm>
            <a:off x="4482339" y="4050843"/>
            <a:ext cx="3056991" cy="1029149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0" y="5020532"/>
            <a:ext cx="12192000" cy="153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GUWAHATI-26, ASSAM</a:t>
            </a:r>
            <a:r>
              <a:rPr lang="en-US" sz="18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endParaRPr lang="en-US" sz="18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2339" y="6139043"/>
            <a:ext cx="321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December 2025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1025072" y="440838"/>
            <a:ext cx="10399904" cy="772006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NexLattice</a:t>
            </a:r>
            <a:r>
              <a:rPr lang="en-US" sz="2800" dirty="0"/>
              <a:t>: Secure, </a:t>
            </a:r>
            <a:r>
              <a:rPr lang="en-US" sz="2800" dirty="0" err="1"/>
              <a:t>Plug&amp;play</a:t>
            </a:r>
            <a:r>
              <a:rPr lang="en-US" sz="2800" dirty="0"/>
              <a:t> </a:t>
            </a:r>
            <a:r>
              <a:rPr lang="en-US" sz="2800" dirty="0" err="1"/>
              <a:t>Offgrid</a:t>
            </a:r>
            <a:r>
              <a:rPr lang="en-US" sz="2800" dirty="0"/>
              <a:t> Wi-Fi Mesh for IoT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nto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1333" y="2308954"/>
            <a:ext cx="3325906" cy="783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Debayangshu</a:t>
            </a:r>
            <a:r>
              <a:rPr lang="en-US" sz="18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Sen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ROLL NO.: ADTU/2022-26/BCS/049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9703" y="2292253"/>
            <a:ext cx="5042635" cy="79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Rajdeep Roy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ROLL NO.: ADTU/2022-26/BCS/046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0056"/>
            <a:ext cx="6091508" cy="2979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091508" y="6560056"/>
            <a:ext cx="5136778" cy="29794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228286" y="6560056"/>
            <a:ext cx="963714" cy="2979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0CB401-E4C4-9D44-2FDB-28196DB37332}"/>
              </a:ext>
            </a:extLst>
          </p:cNvPr>
          <p:cNvSpPr txBox="1"/>
          <p:nvPr/>
        </p:nvSpPr>
        <p:spPr>
          <a:xfrm>
            <a:off x="264687" y="2285489"/>
            <a:ext cx="4577024" cy="80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Vivek </a:t>
            </a:r>
            <a:r>
              <a:rPr lang="en-US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Upadhaya</a:t>
            </a:r>
            <a:endParaRPr lang="en-US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ea typeface="Inter Medium"/>
                <a:cs typeface="Inter Medium"/>
                <a:sym typeface="Inter Medium"/>
              </a:rPr>
              <a:t>ROLL NO.: ADTU/2022-26/BCS/048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4775"/>
            <a:ext cx="10515600" cy="4487545"/>
          </a:xfrm>
        </p:spPr>
        <p:txBody>
          <a:bodyPr>
            <a:normAutofit fontScale="8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MOTIVATION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LITERATURE REVIEW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METHODOLOGY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SYSTEM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CHALLENGES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CURRENT FINDINGS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cs typeface="+mn-lt"/>
              </a:rPr>
              <a:t>REFERENCES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Table of Contents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4284"/>
            <a:ext cx="10725443" cy="4351338"/>
          </a:xfrm>
        </p:spPr>
        <p:txBody>
          <a:bodyPr>
            <a:normAutofit/>
          </a:bodyPr>
          <a:lstStyle/>
          <a:p>
            <a:r>
              <a:rPr lang="en-US" b="1" dirty="0" err="1"/>
              <a:t>NexLattice</a:t>
            </a:r>
            <a:r>
              <a:rPr lang="en-US" dirty="0"/>
              <a:t> is a </a:t>
            </a:r>
            <a:r>
              <a:rPr lang="en-US" b="1" dirty="0"/>
              <a:t>secure, plug-and-play Wi-Fi mesh</a:t>
            </a:r>
            <a:r>
              <a:rPr lang="en-US" dirty="0"/>
              <a:t> network for IoT devices.</a:t>
            </a:r>
          </a:p>
          <a:p>
            <a:r>
              <a:rPr lang="en-US" dirty="0"/>
              <a:t>Unlike existing protocols, it </a:t>
            </a:r>
            <a:r>
              <a:rPr lang="en-US" b="1" dirty="0"/>
              <a:t>uses standard Wi-Fi</a:t>
            </a:r>
            <a:r>
              <a:rPr lang="en-US" dirty="0"/>
              <a:t> to create a </a:t>
            </a:r>
            <a:r>
              <a:rPr lang="en-US" b="1" dirty="0"/>
              <a:t>self-healing, scalable, and offline network</a:t>
            </a:r>
            <a:r>
              <a:rPr lang="en-US" dirty="0"/>
              <a:t>.</a:t>
            </a:r>
          </a:p>
          <a:p>
            <a:r>
              <a:rPr lang="en-US" dirty="0"/>
              <a:t>The protocol is designed to be </a:t>
            </a:r>
            <a:r>
              <a:rPr lang="en-US" b="1" dirty="0"/>
              <a:t>universal</a:t>
            </a:r>
            <a:r>
              <a:rPr lang="en-US" dirty="0"/>
              <a:t> and works on :</a:t>
            </a:r>
          </a:p>
          <a:p>
            <a:pPr lvl="1"/>
            <a:r>
              <a:rPr lang="en-US" b="1" dirty="0"/>
              <a:t>ESP32</a:t>
            </a:r>
          </a:p>
          <a:p>
            <a:pPr lvl="1"/>
            <a:r>
              <a:rPr lang="en-US" b="1" dirty="0"/>
              <a:t>Raspberry Pi Pico W</a:t>
            </a:r>
          </a:p>
          <a:p>
            <a:pPr lvl="1"/>
            <a:r>
              <a:rPr lang="en-US" dirty="0"/>
              <a:t>Other similar microcontrollers.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35124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INTRODUCTION</a:t>
            </a:r>
          </a:p>
        </p:txBody>
      </p:sp>
      <p:sp>
        <p:nvSpPr>
          <p:cNvPr id="9" name="Freeform 2"/>
          <p:cNvSpPr/>
          <p:nvPr/>
        </p:nvSpPr>
        <p:spPr>
          <a:xfrm>
            <a:off x="10189029" y="5755622"/>
            <a:ext cx="2002970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093A53D1-E6B2-49A7-AB22-68B296D368F6}"/>
              </a:ext>
            </a:extLst>
          </p:cNvPr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03985"/>
            <a:ext cx="10739511" cy="326263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cs typeface="+mn-lt"/>
              </a:rPr>
              <a:t>Issues : </a:t>
            </a:r>
            <a:r>
              <a:rPr lang="en-US" dirty="0"/>
              <a:t>Current mesh networking protocols like </a:t>
            </a:r>
            <a:r>
              <a:rPr lang="en-US" b="1" dirty="0"/>
              <a:t>Zigbee, </a:t>
            </a:r>
            <a:r>
              <a:rPr lang="en-US" b="1" dirty="0" err="1"/>
              <a:t>LoRa</a:t>
            </a:r>
            <a:r>
              <a:rPr lang="en-US" b="1" dirty="0"/>
              <a:t>, and ESP-MESH</a:t>
            </a:r>
            <a:r>
              <a:rPr lang="en-US" dirty="0"/>
              <a:t> are often </a:t>
            </a:r>
            <a:r>
              <a:rPr lang="en-US" b="1" dirty="0"/>
              <a:t>vendor-specific</a:t>
            </a:r>
            <a:r>
              <a:rPr lang="en-US" dirty="0"/>
              <a:t>, </a:t>
            </a:r>
            <a:r>
              <a:rPr lang="en-US" b="1" dirty="0"/>
              <a:t>low-speed</a:t>
            </a:r>
            <a:r>
              <a:rPr lang="en-US" dirty="0"/>
              <a:t>, or </a:t>
            </a:r>
            <a:r>
              <a:rPr lang="en-US" b="1" dirty="0"/>
              <a:t>require special hardware</a:t>
            </a:r>
            <a:r>
              <a:rPr lang="en-US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cs typeface="+mn-lt"/>
              </a:rPr>
              <a:t>Gap : </a:t>
            </a:r>
            <a:r>
              <a:rPr lang="en-US" dirty="0"/>
              <a:t>There’s a gap in </a:t>
            </a:r>
            <a:r>
              <a:rPr lang="en-US" b="1" dirty="0"/>
              <a:t>universal, secure Wi-Fi mesh networking</a:t>
            </a:r>
            <a:r>
              <a:rPr lang="en-US" dirty="0"/>
              <a:t> that can be used across different IoT devices, without needing a router or internet.</a:t>
            </a:r>
            <a:r>
              <a:rPr lang="en-US" b="1" dirty="0">
                <a:cs typeface="+mn-lt"/>
              </a:rPr>
              <a:t>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C265-7A68-7CAA-A88D-EAE154D5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D4C4-5297-2C05-9D49-FC57E88A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3985"/>
            <a:ext cx="10739511" cy="326263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cs typeface="+mn-lt"/>
              </a:rPr>
              <a:t>Universal Compatibility:</a:t>
            </a:r>
            <a:r>
              <a:rPr lang="en-US" sz="1800" dirty="0">
                <a:cs typeface="+mn-lt"/>
              </a:rPr>
              <a:t> Existing mesh protocols (e.g., Zigbee, </a:t>
            </a:r>
            <a:r>
              <a:rPr lang="en-US" sz="1800" dirty="0" err="1">
                <a:cs typeface="+mn-lt"/>
              </a:rPr>
              <a:t>LoRa</a:t>
            </a:r>
            <a:r>
              <a:rPr lang="en-US" sz="1800" dirty="0">
                <a:cs typeface="+mn-lt"/>
              </a:rPr>
              <a:t>) require specific hardware or are not Wi-Fi based. </a:t>
            </a:r>
            <a:r>
              <a:rPr lang="en-US" sz="1800" dirty="0" err="1">
                <a:cs typeface="+mn-lt"/>
              </a:rPr>
              <a:t>NexLattice</a:t>
            </a:r>
            <a:r>
              <a:rPr lang="en-US" sz="1800" dirty="0">
                <a:cs typeface="+mn-lt"/>
              </a:rPr>
              <a:t> aims to fill this gap by using </a:t>
            </a:r>
            <a:r>
              <a:rPr lang="en-US" sz="1800" b="1" dirty="0">
                <a:cs typeface="+mn-lt"/>
              </a:rPr>
              <a:t>standard Wi-Fi </a:t>
            </a:r>
            <a:r>
              <a:rPr lang="en-US" sz="1800" dirty="0">
                <a:cs typeface="+mn-lt"/>
              </a:rPr>
              <a:t>that works across various microcontrollers (ESP32, Raspberry Pi Pico, etc.).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 err="1">
                <a:cs typeface="+mn-lt"/>
              </a:rPr>
              <a:t>Offgrid</a:t>
            </a:r>
            <a:r>
              <a:rPr lang="en-US" sz="1800" b="1" dirty="0">
                <a:cs typeface="+mn-lt"/>
              </a:rPr>
              <a:t> Communication:</a:t>
            </a:r>
            <a:r>
              <a:rPr lang="en-US" sz="1800" dirty="0">
                <a:cs typeface="+mn-lt"/>
              </a:rPr>
              <a:t> Wi-Fi mesh can operate without the need for routers or internet, making it perfect for </a:t>
            </a:r>
            <a:r>
              <a:rPr lang="en-US" sz="1800" b="1" dirty="0" err="1">
                <a:cs typeface="+mn-lt"/>
              </a:rPr>
              <a:t>offgrid</a:t>
            </a:r>
            <a:r>
              <a:rPr lang="en-US" sz="1800" dirty="0">
                <a:cs typeface="+mn-lt"/>
              </a:rPr>
              <a:t> environments like </a:t>
            </a:r>
            <a:r>
              <a:rPr lang="en-US" sz="1800" b="1" dirty="0">
                <a:cs typeface="+mn-lt"/>
              </a:rPr>
              <a:t>disaster zones, rural areas, </a:t>
            </a:r>
            <a:r>
              <a:rPr lang="en-US" sz="1800" dirty="0">
                <a:cs typeface="+mn-lt"/>
              </a:rPr>
              <a:t>or</a:t>
            </a:r>
            <a:r>
              <a:rPr lang="en-US" sz="1800" b="1" dirty="0">
                <a:cs typeface="+mn-lt"/>
              </a:rPr>
              <a:t> remote sensor networks</a:t>
            </a:r>
            <a:r>
              <a:rPr lang="en-US" sz="1800" dirty="0">
                <a:cs typeface="+mn-l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cs typeface="+mn-lt"/>
              </a:rPr>
              <a:t>Secure and Lightweight:</a:t>
            </a:r>
            <a:r>
              <a:rPr lang="en-US" sz="1800" dirty="0">
                <a:cs typeface="+mn-lt"/>
              </a:rPr>
              <a:t> Unlike many mesh protocols, </a:t>
            </a:r>
            <a:r>
              <a:rPr lang="en-US" sz="1800" dirty="0" err="1">
                <a:cs typeface="+mn-lt"/>
              </a:rPr>
              <a:t>NexLattice</a:t>
            </a:r>
            <a:r>
              <a:rPr lang="en-US" sz="1800" dirty="0">
                <a:cs typeface="+mn-lt"/>
              </a:rPr>
              <a:t> ensures </a:t>
            </a:r>
            <a:r>
              <a:rPr lang="en-US" sz="1800" b="1" dirty="0">
                <a:cs typeface="+mn-lt"/>
              </a:rPr>
              <a:t>secure data exchange </a:t>
            </a:r>
            <a:r>
              <a:rPr lang="en-US" sz="1800" dirty="0">
                <a:cs typeface="+mn-lt"/>
              </a:rPr>
              <a:t>(encryption) while keeping </a:t>
            </a:r>
            <a:r>
              <a:rPr lang="en-US" sz="1800" b="1" dirty="0">
                <a:cs typeface="+mn-lt"/>
              </a:rPr>
              <a:t>low latency </a:t>
            </a:r>
            <a:r>
              <a:rPr lang="en-US" sz="1800" dirty="0">
                <a:cs typeface="+mn-lt"/>
              </a:rPr>
              <a:t>and </a:t>
            </a:r>
            <a:r>
              <a:rPr lang="en-US" sz="1800" b="1" dirty="0">
                <a:cs typeface="+mn-lt"/>
              </a:rPr>
              <a:t>minimal power consumption</a:t>
            </a:r>
            <a:r>
              <a:rPr lang="en-US" sz="1800" dirty="0">
                <a:cs typeface="+mn-l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cs typeface="+mn-lt"/>
              </a:rPr>
              <a:t>Scalable and Fault-Tolerant:</a:t>
            </a:r>
            <a:r>
              <a:rPr lang="en-US" sz="1800" dirty="0">
                <a:cs typeface="+mn-lt"/>
              </a:rPr>
              <a:t> The system is </a:t>
            </a:r>
            <a:r>
              <a:rPr lang="en-US" sz="1800" b="1" dirty="0">
                <a:cs typeface="+mn-lt"/>
              </a:rPr>
              <a:t>self-healing</a:t>
            </a:r>
            <a:r>
              <a:rPr lang="en-US" sz="1800" dirty="0">
                <a:cs typeface="+mn-lt"/>
              </a:rPr>
              <a:t> and can scale to a large number of devices, ensuring </a:t>
            </a:r>
            <a:r>
              <a:rPr lang="en-US" sz="1800" b="1" dirty="0">
                <a:cs typeface="+mn-lt"/>
              </a:rPr>
              <a:t>reliable communication </a:t>
            </a:r>
            <a:r>
              <a:rPr lang="en-US" sz="1800" dirty="0">
                <a:cs typeface="+mn-lt"/>
              </a:rPr>
              <a:t>even when nodes fail or leave the network.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cs typeface="+mn-lt"/>
              </a:rPr>
              <a:t>Plug-and-Play Setup:</a:t>
            </a:r>
            <a:r>
              <a:rPr lang="en-US" sz="1800" dirty="0">
                <a:cs typeface="+mn-lt"/>
              </a:rPr>
              <a:t> </a:t>
            </a:r>
            <a:r>
              <a:rPr lang="en-US" sz="1800" b="1" dirty="0">
                <a:cs typeface="+mn-lt"/>
              </a:rPr>
              <a:t>Easy integration </a:t>
            </a:r>
            <a:r>
              <a:rPr lang="en-US" sz="1800" dirty="0">
                <a:cs typeface="+mn-lt"/>
              </a:rPr>
              <a:t>for developers, with a </a:t>
            </a:r>
            <a:r>
              <a:rPr lang="en-US" sz="1800" b="1" dirty="0">
                <a:cs typeface="+mn-lt"/>
              </a:rPr>
              <a:t>simple </a:t>
            </a:r>
            <a:r>
              <a:rPr lang="en-US" sz="1800" b="1" dirty="0" err="1">
                <a:cs typeface="+mn-lt"/>
              </a:rPr>
              <a:t>MicroPython</a:t>
            </a:r>
            <a:r>
              <a:rPr lang="en-US" sz="1800" b="1" dirty="0">
                <a:cs typeface="+mn-lt"/>
              </a:rPr>
              <a:t> library </a:t>
            </a:r>
            <a:r>
              <a:rPr lang="en-US" sz="1800" dirty="0">
                <a:cs typeface="+mn-lt"/>
              </a:rPr>
              <a:t>for quick deployment, allowing anyone to create their own mesh network with minimal configuration.</a:t>
            </a:r>
            <a:endParaRPr lang="en-US" sz="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8FBBFD-EAD9-B252-5680-CBCA1697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2300A-C7F8-D8D6-F465-1EC9881344AF}"/>
              </a:ext>
            </a:extLst>
          </p:cNvPr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6FE511-54A0-344C-7306-3451B4787543}"/>
              </a:ext>
            </a:extLst>
          </p:cNvPr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06808-E6BB-045B-AF18-DDD6D7389373}"/>
              </a:ext>
            </a:extLst>
          </p:cNvPr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2804F9-B120-A874-923C-9FCC9203327E}"/>
              </a:ext>
            </a:extLst>
          </p:cNvPr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MOTIVATION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2208DFBF-B32F-B44D-A3F5-C03B06C226BD}"/>
              </a:ext>
            </a:extLst>
          </p:cNvPr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4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4284"/>
            <a:ext cx="10934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AIM</a:t>
            </a:r>
            <a:r>
              <a:rPr lang="en-US" sz="2400" dirty="0"/>
              <a:t> : </a:t>
            </a:r>
          </a:p>
          <a:p>
            <a:pPr marL="0" indent="0">
              <a:buNone/>
            </a:pPr>
            <a:r>
              <a:rPr lang="en-US" sz="2400" dirty="0"/>
              <a:t>To develop a universal, secure, and scalable Wi-Fi mesh protocol for IoT devices, enabling offline, peer-to-peer communication without reliance on routers or internet access.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Objectives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Design and Develop a universal Wi-Fi mesh protocol.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Ensure secure, encrypted, and peer-to-peer communication.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Provide plug-and-play support for devices like ESP32.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Build a dashboard for monitoring and control.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438533A-C04D-3380-AD9A-0F2AD28FE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586881"/>
              </p:ext>
            </p:extLst>
          </p:nvPr>
        </p:nvGraphicFramePr>
        <p:xfrm>
          <a:off x="121920" y="1182778"/>
          <a:ext cx="11946149" cy="4645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380">
                  <a:extLst>
                    <a:ext uri="{9D8B030D-6E8A-4147-A177-3AD203B41FA5}">
                      <a16:colId xmlns:a16="http://schemas.microsoft.com/office/drawing/2014/main" val="3523044921"/>
                    </a:ext>
                  </a:extLst>
                </a:gridCol>
                <a:gridCol w="2288894">
                  <a:extLst>
                    <a:ext uri="{9D8B030D-6E8A-4147-A177-3AD203B41FA5}">
                      <a16:colId xmlns:a16="http://schemas.microsoft.com/office/drawing/2014/main" val="3605120402"/>
                    </a:ext>
                  </a:extLst>
                </a:gridCol>
                <a:gridCol w="2435218">
                  <a:extLst>
                    <a:ext uri="{9D8B030D-6E8A-4147-A177-3AD203B41FA5}">
                      <a16:colId xmlns:a16="http://schemas.microsoft.com/office/drawing/2014/main" val="1781022742"/>
                    </a:ext>
                  </a:extLst>
                </a:gridCol>
                <a:gridCol w="2461028">
                  <a:extLst>
                    <a:ext uri="{9D8B030D-6E8A-4147-A177-3AD203B41FA5}">
                      <a16:colId xmlns:a16="http://schemas.microsoft.com/office/drawing/2014/main" val="203491448"/>
                    </a:ext>
                  </a:extLst>
                </a:gridCol>
                <a:gridCol w="2900629">
                  <a:extLst>
                    <a:ext uri="{9D8B030D-6E8A-4147-A177-3AD203B41FA5}">
                      <a16:colId xmlns:a16="http://schemas.microsoft.com/office/drawing/2014/main" val="785308001"/>
                    </a:ext>
                  </a:extLst>
                </a:gridCol>
              </a:tblGrid>
              <a:tr h="34557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Author(s) &amp; Year</a:t>
                      </a:r>
                      <a:endParaRPr lang="en-IN" sz="8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Title</a:t>
                      </a:r>
                      <a:endParaRPr lang="en-IN" sz="8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Methodology</a:t>
                      </a:r>
                      <a:endParaRPr lang="en-IN" sz="8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Research Purpose</a:t>
                      </a:r>
                      <a:endParaRPr lang="en-IN" sz="8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Findings</a:t>
                      </a:r>
                      <a:endParaRPr lang="en-IN" sz="8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639704498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pt-BR" sz="800" b="1" dirty="0"/>
                        <a:t>J. M. Solé, R. P. Centelles, F. Freitag, R. Meseguer, R. Baig (2025)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Middleware for Distributed Applications in a </a:t>
                      </a:r>
                      <a:r>
                        <a:rPr lang="en-US" sz="800" b="1" i="1" dirty="0" err="1"/>
                        <a:t>LoRa</a:t>
                      </a:r>
                      <a:r>
                        <a:rPr lang="en-US" sz="800" b="1" i="1" dirty="0"/>
                        <a:t> Mesh Network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Middleware design, system architecture, experimental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enable distributed applications over LoRa-based mesh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Middleware abstraction simplifies application development and enables scalable distributed coordination despite </a:t>
                      </a:r>
                      <a:r>
                        <a:rPr lang="en-US" sz="800" dirty="0" err="1"/>
                        <a:t>LoRa</a:t>
                      </a:r>
                      <a:r>
                        <a:rPr lang="en-US" sz="800" dirty="0"/>
                        <a:t> 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107626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it-IT" sz="800" b="1"/>
                        <a:t>R. Berto, P. Napoletano, M. Savi (2021)</a:t>
                      </a:r>
                      <a:endParaRPr lang="it-IT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A </a:t>
                      </a:r>
                      <a:r>
                        <a:rPr lang="en-US" sz="800" b="1" i="1" dirty="0" err="1"/>
                        <a:t>LoRa</a:t>
                      </a:r>
                      <a:r>
                        <a:rPr lang="en-US" sz="800" b="1" i="1" dirty="0"/>
                        <a:t>-Based Mesh Network </a:t>
                      </a:r>
                      <a:r>
                        <a:rPr lang="en-US" sz="800" i="1" dirty="0"/>
                        <a:t>for Peer-to-Peer Long-Range Communication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Prototype implementation, field experiments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investigate peer-to-peer long-range communication using LoRa mesh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LoRa mesh networking supports decentralized communication with extended coverage and acceptable reliability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81924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fr-FR" sz="800" b="1"/>
                        <a:t>N. L. Giménez et al. (2023)</a:t>
                      </a:r>
                      <a:endParaRPr lang="fr-FR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Embedded Federated Learning over a </a:t>
                      </a:r>
                      <a:r>
                        <a:rPr lang="en-US" sz="800" b="1" i="1" dirty="0" err="1"/>
                        <a:t>LoRa</a:t>
                      </a:r>
                      <a:r>
                        <a:rPr lang="en-US" sz="800" b="1" i="1" dirty="0"/>
                        <a:t> Mesh Network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Embedded implementation, federated learning experiments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assess feasibility of federated learning over LoRa mesh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Federated learning is feasible on constrained LoRa meshes with optimized communication strategies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884314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da-DK" sz="800" b="1"/>
                        <a:t>Z. Sun et al. (2022)</a:t>
                      </a:r>
                      <a:endParaRPr lang="da-DK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Recent Advances in </a:t>
                      </a:r>
                      <a:r>
                        <a:rPr lang="en-US" sz="800" b="1" i="1" dirty="0" err="1"/>
                        <a:t>LoRa</a:t>
                      </a:r>
                      <a:r>
                        <a:rPr lang="en-US" sz="800" i="1" dirty="0"/>
                        <a:t>: A Comprehensive Survey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Systematic literature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review state-of-the-art LoRa technologies and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Identifies scalability challenges, mesh extensions, and open research problems in LoRa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217815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en-US" sz="800" b="1"/>
                        <a:t>W. Wang, G. He, J. Wan (2011)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Research on </a:t>
                      </a:r>
                      <a:r>
                        <a:rPr lang="en-US" sz="800" b="1" i="1" dirty="0"/>
                        <a:t>ZigBee Wireless Communication Technology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Protocol analysis, technical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analyze ZigBee communication principles and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ZigBee offers low power consumption, self-organizing mesh networking, and reliability for short-range IoT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925995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en-US" sz="800" b="1"/>
                        <a:t>J. Bicket, D. Aguayo, S. Biswas, R. Morris (2005)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Architecture and Evaluation of an Unplanned </a:t>
                      </a:r>
                      <a:r>
                        <a:rPr lang="en-US" sz="800" b="1" i="1" dirty="0"/>
                        <a:t>802.11b Mesh Network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Real-world deployment, performance 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evaluate unplanned Wi-Fi mesh network architectures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Demonstrates robustness, self-configuration, and fault tolerance in real mesh deployments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562309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en-US" sz="800" b="1"/>
                        <a:t>Espressif Systems (2020)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/>
                        <a:t>ESP-MESH: Networking Solution Based on ESP32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800"/>
                        <a:t>Technical documentation, system design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document ESP-MESH networking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ESP-MESH provides scalable, self-healing Wi-Fi mesh networking for ESP32-based IoT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217844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it-IT" sz="800" b="1"/>
                        <a:t>S. Sicari, A. Rizzardi, L. A. Grieco, A. Coen-Porisini (2015)</a:t>
                      </a:r>
                      <a:endParaRPr lang="it-IT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/>
                        <a:t>Security, Privacy and Trust in Internet of Things: The Road Ahead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Survey and conceptual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identify IoT security, privacy, and trust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Highlights major vulnerabilities and calls for holistic, security-by-design IoT architectures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676925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en-US" sz="800" b="1"/>
                        <a:t>E. Fernandes, J. Jung, A. Prakash (2016)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/>
                        <a:t>Security Analysis of Emerging Smart Home Applications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Static and dynamic security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evaluate security of smart home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Reveals widespread security weaknesses and insufficient permission controls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659885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en-US" sz="800" b="1"/>
                        <a:t>C. M. Ramya, M. Shanmugaraj, R. Prabakaran (2011)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/>
                        <a:t>Study on ZigBee Technology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Comparative study, standards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study ZigBee standards and 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Confirms ZigBee’s effectiveness for low-data-rate, low-power wireless sensor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806834"/>
                  </a:ext>
                </a:extLst>
              </a:tr>
              <a:tr h="384297">
                <a:tc>
                  <a:txBody>
                    <a:bodyPr/>
                    <a:lstStyle/>
                    <a:p>
                      <a:r>
                        <a:rPr lang="en-US" sz="800" b="1"/>
                        <a:t>A. N. A. A. Aziz, R. A. Rashid, M. N. M. Nasir, M. A. Sarijari (2024)</a:t>
                      </a:r>
                      <a:endParaRPr 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ESP Mesh Network for Security Application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Prototype development, experimental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To evaluate ESP-MESH for security-related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ESP-MESH demonstrates reliable communication and low latency for distributed security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573969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LITERATURE REVIEW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7160F-4759-7BE1-4AE2-2C2646CE8799}"/>
              </a:ext>
            </a:extLst>
          </p:cNvPr>
          <p:cNvSpPr txBox="1"/>
          <p:nvPr/>
        </p:nvSpPr>
        <p:spPr>
          <a:xfrm>
            <a:off x="4368599" y="6299211"/>
            <a:ext cx="3452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Table 1: Comparative Study of Related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81819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LITERATURE REVIEW</a:t>
            </a:r>
          </a:p>
          <a:p>
            <a:pPr algn="l"/>
            <a:endParaRPr lang="en-US" sz="3200" dirty="0">
              <a:solidFill>
                <a:srgbClr val="FFFFFF"/>
              </a:solidFill>
              <a:ea typeface="Anton"/>
              <a:cs typeface="Anton"/>
              <a:sym typeface="Anto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77AE7E-022F-C1E7-A5AE-9FF21FC66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88258"/>
              </p:ext>
            </p:extLst>
          </p:nvPr>
        </p:nvGraphicFramePr>
        <p:xfrm>
          <a:off x="411982" y="1142283"/>
          <a:ext cx="11364687" cy="449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8229">
                  <a:extLst>
                    <a:ext uri="{9D8B030D-6E8A-4147-A177-3AD203B41FA5}">
                      <a16:colId xmlns:a16="http://schemas.microsoft.com/office/drawing/2014/main" val="1452153557"/>
                    </a:ext>
                  </a:extLst>
                </a:gridCol>
                <a:gridCol w="3788229">
                  <a:extLst>
                    <a:ext uri="{9D8B030D-6E8A-4147-A177-3AD203B41FA5}">
                      <a16:colId xmlns:a16="http://schemas.microsoft.com/office/drawing/2014/main" val="3335121827"/>
                    </a:ext>
                  </a:extLst>
                </a:gridCol>
                <a:gridCol w="3788229">
                  <a:extLst>
                    <a:ext uri="{9D8B030D-6E8A-4147-A177-3AD203B41FA5}">
                      <a16:colId xmlns:a16="http://schemas.microsoft.com/office/drawing/2014/main" val="3919486909"/>
                    </a:ext>
                  </a:extLst>
                </a:gridCol>
              </a:tblGrid>
              <a:tr h="3398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Identified Research Gaps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Limitations in existing work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Our Proposed Solution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82380197"/>
                  </a:ext>
                </a:extLst>
              </a:tr>
              <a:tr h="7768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Limited support for true multi-hop, application-level </a:t>
                      </a: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 mesh networking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Most </a:t>
                      </a: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 solutions focus on star topology or basic routing without application abstraction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 err="1"/>
                        <a:t>NexLattice</a:t>
                      </a:r>
                      <a:r>
                        <a:rPr lang="en-US" sz="1400" dirty="0"/>
                        <a:t> introduces a modular mesh framework with application-aware routing and middleware support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559285758"/>
                  </a:ext>
                </a:extLst>
              </a:tr>
              <a:tr h="7768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High communication overhead in constrained </a:t>
                      </a: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 mesh environments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Existing systems suffer from latency and packet loss under dense or multi-hop scenarios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 err="1"/>
                        <a:t>NexLattice</a:t>
                      </a:r>
                      <a:r>
                        <a:rPr lang="en-US" sz="1400" dirty="0"/>
                        <a:t> uses lightweight messaging, adaptive forwarding, and duty-cycle–aware scheduling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936797378"/>
                  </a:ext>
                </a:extLst>
              </a:tr>
              <a:tr h="7768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Poor integration of edge intelligence in low-power mesh networks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Federated learning and analytics are rarely optimized for extreme bandwidth limits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 err="1"/>
                        <a:t>NexLattice</a:t>
                      </a:r>
                      <a:r>
                        <a:rPr lang="en-US" sz="1400" dirty="0"/>
                        <a:t> enables optional edge intelligence with ultra-lightweight data aggregation and model updates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06807287"/>
                  </a:ext>
                </a:extLst>
              </a:tr>
              <a:tr h="7768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Limited security mechanisms in ESP/Wi-Fi mesh and LPWAN hybrids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Security is often add-on and not end-to-end across heterogeneous nodes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 err="1"/>
                        <a:t>NexLattice</a:t>
                      </a:r>
                      <a:r>
                        <a:rPr lang="en-US" sz="1400" dirty="0"/>
                        <a:t> embeds secure node authentication and encrypted mesh communication by design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28948217"/>
                  </a:ext>
                </a:extLst>
              </a:tr>
              <a:tr h="99530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Lack of unified framework across </a:t>
                      </a: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, ESP-MESH, and heterogeneous IoT nodes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/>
                        <a:t>Prior work targets single technologies in isolation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 err="1"/>
                        <a:t>NexLattice</a:t>
                      </a:r>
                      <a:r>
                        <a:rPr lang="en-US" sz="1400" dirty="0"/>
                        <a:t> provides a unified, extensible lattice-style architecture supporting heterogeneous mesh nodes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7715573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CC9AE5-AEB6-C28D-A455-3876C9EA3349}"/>
              </a:ext>
            </a:extLst>
          </p:cNvPr>
          <p:cNvSpPr txBox="1"/>
          <p:nvPr/>
        </p:nvSpPr>
        <p:spPr>
          <a:xfrm>
            <a:off x="3840866" y="6128310"/>
            <a:ext cx="557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Table 2: Identified Research Gaps and Proposed solutions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B3A8117-30C6-46D3-A2B2-828C54E3A3FA}"/>
              </a:ext>
            </a:extLst>
          </p:cNvPr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1863" y="1102378"/>
            <a:ext cx="10641037" cy="4552834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endParaRPr lang="en-US" sz="8000" dirty="0"/>
          </a:p>
          <a:p>
            <a:r>
              <a:rPr lang="en-US" sz="8000" b="1" dirty="0"/>
              <a:t>Protocol Design : </a:t>
            </a:r>
          </a:p>
          <a:p>
            <a:pPr lvl="1"/>
            <a:r>
              <a:rPr lang="en-US" sz="7600" dirty="0"/>
              <a:t>Develop a lightweight Wi-Fi mesh protocol using UDP packets for low-latency communication and integrate AES encryption for secure data exchange.</a:t>
            </a:r>
          </a:p>
          <a:p>
            <a:r>
              <a:rPr lang="en-US" sz="8000" b="1" dirty="0"/>
              <a:t>Node Discovery &amp; Network Formation : </a:t>
            </a:r>
          </a:p>
          <a:p>
            <a:pPr lvl="1"/>
            <a:r>
              <a:rPr lang="en-US" sz="7600" dirty="0"/>
              <a:t>Implement discovery signals to allow devices to find each other and form a self-healing mesh network. Nodes forward messages to the destination via hop-based routing.</a:t>
            </a:r>
          </a:p>
          <a:p>
            <a:r>
              <a:rPr lang="en-US" sz="8000" b="1" dirty="0"/>
              <a:t>Security : </a:t>
            </a:r>
          </a:p>
          <a:p>
            <a:pPr lvl="1"/>
            <a:r>
              <a:rPr lang="en-US" sz="7600" dirty="0"/>
              <a:t>Use AES-128 encryption and authentication to ensure secure, peer-to-peer communication. Each message will include a nonce and timestamp to prevent replay attacks.</a:t>
            </a:r>
          </a:p>
          <a:p>
            <a:r>
              <a:rPr lang="en-US" sz="8000" b="1" dirty="0"/>
              <a:t>Plug-and-Play Setup :</a:t>
            </a:r>
          </a:p>
          <a:p>
            <a:pPr lvl="1"/>
            <a:r>
              <a:rPr lang="en-US" sz="7600" dirty="0"/>
              <a:t>Provide a </a:t>
            </a:r>
            <a:r>
              <a:rPr lang="en-US" sz="7600" dirty="0" err="1"/>
              <a:t>MicroPython</a:t>
            </a:r>
            <a:r>
              <a:rPr lang="en-US" sz="7600" dirty="0"/>
              <a:t> library for easy integration with IoT devices, enabling automatic setup of the mesh network without additional configurations.</a:t>
            </a:r>
          </a:p>
          <a:p>
            <a:r>
              <a:rPr lang="en-US" sz="8000" b="1" dirty="0"/>
              <a:t>Dashboard : </a:t>
            </a:r>
          </a:p>
          <a:p>
            <a:pPr lvl="1"/>
            <a:r>
              <a:rPr lang="en-US" sz="7600" dirty="0"/>
              <a:t>Develop a web-based dashboard to visualize the mesh network, monitor node status, and track performance metrics like latency and packet delivery ratio.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METHODOLOGY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7454"/>
            <a:ext cx="10934700" cy="435741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9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640"/>
              </a:lnSpc>
            </a:pPr>
            <a:r>
              <a:rPr lang="en-US" sz="112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 EACH USER’</a:t>
            </a:r>
            <a:r>
              <a:rPr lang="en-US" sz="24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SYSTEM ARCHITECTURE &amp; NODE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29A61-08B5-42B1-B3B5-AC7F24A54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" y="1447798"/>
            <a:ext cx="4842799" cy="4733507"/>
          </a:xfrm>
          <a:prstGeom prst="rect">
            <a:avLst/>
          </a:prstGeom>
        </p:spPr>
      </p:pic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3D2DE2-E80F-463D-98C3-42F3BCA0AA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247" y="1636262"/>
            <a:ext cx="7267058" cy="4119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IMPLEMENTATION</a:t>
            </a:r>
          </a:p>
        </p:txBody>
      </p:sp>
      <p:sp>
        <p:nvSpPr>
          <p:cNvPr id="9" name="Freeform 2"/>
          <p:cNvSpPr/>
          <p:nvPr/>
        </p:nvSpPr>
        <p:spPr>
          <a:xfrm>
            <a:off x="10201835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C2A03-8386-4A24-A441-FA84E4E3EE7E}"/>
              </a:ext>
            </a:extLst>
          </p:cNvPr>
          <p:cNvSpPr txBox="1"/>
          <p:nvPr/>
        </p:nvSpPr>
        <p:spPr>
          <a:xfrm>
            <a:off x="226423" y="1297577"/>
            <a:ext cx="116876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NexLattice</a:t>
            </a:r>
            <a:r>
              <a:rPr lang="en-US" b="1" dirty="0"/>
              <a:t> protocol</a:t>
            </a:r>
            <a:r>
              <a:rPr lang="en-US" dirty="0"/>
              <a:t> enables </a:t>
            </a:r>
            <a:r>
              <a:rPr lang="en-US" b="1" dirty="0"/>
              <a:t>Wi-Fi-based mesh networking</a:t>
            </a:r>
            <a:r>
              <a:rPr lang="en-US" dirty="0"/>
              <a:t> for IoT devices, allowing them to communicate </a:t>
            </a:r>
            <a:r>
              <a:rPr lang="en-US" b="1" dirty="0"/>
              <a:t>securely</a:t>
            </a:r>
            <a:r>
              <a:rPr lang="en-US" dirty="0"/>
              <a:t> without the need for routers or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Wi-Fi Mesh Protocol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UDP</a:t>
            </a:r>
            <a:r>
              <a:rPr lang="en-US" dirty="0"/>
              <a:t> for communication and </a:t>
            </a:r>
            <a:r>
              <a:rPr lang="en-US" b="1" dirty="0"/>
              <a:t>AES-128 encryption</a:t>
            </a:r>
            <a:r>
              <a:rPr lang="en-US" dirty="0"/>
              <a:t> for secure data transfer.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Allows devices to form a </a:t>
            </a:r>
            <a:r>
              <a:rPr lang="en-US" b="1" dirty="0"/>
              <a:t>self-healing mesh network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Node Discovery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Nodes send </a:t>
            </a:r>
            <a:r>
              <a:rPr lang="en-US" b="1" dirty="0"/>
              <a:t>discovery signals</a:t>
            </a:r>
            <a:r>
              <a:rPr lang="en-US" dirty="0"/>
              <a:t> (UDP broadcast) to find nearby devices and form connections.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Routing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Hop-based routing</a:t>
            </a:r>
            <a:r>
              <a:rPr lang="en-US" dirty="0"/>
              <a:t> forwards messages to the destination through intermediate nodes, using </a:t>
            </a:r>
            <a:r>
              <a:rPr lang="en-US" b="1" dirty="0"/>
              <a:t>local routing tables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Plug-and-Play Setup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Integrated via </a:t>
            </a:r>
            <a:r>
              <a:rPr lang="en-US" b="1" dirty="0" err="1"/>
              <a:t>MicroPython</a:t>
            </a:r>
            <a:r>
              <a:rPr lang="en-US" dirty="0"/>
              <a:t>, enabling easy </a:t>
            </a:r>
            <a:r>
              <a:rPr lang="en-US" b="1" dirty="0"/>
              <a:t>plug-and-play</a:t>
            </a:r>
            <a:r>
              <a:rPr lang="en-US" dirty="0"/>
              <a:t> setup for devices like </a:t>
            </a:r>
            <a:r>
              <a:rPr lang="en-US" b="1" dirty="0"/>
              <a:t>ESP32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AES encryption</a:t>
            </a:r>
            <a:r>
              <a:rPr lang="en-US" dirty="0"/>
              <a:t> and </a:t>
            </a:r>
            <a:r>
              <a:rPr lang="en-US" b="1" dirty="0"/>
              <a:t>device authentication</a:t>
            </a:r>
            <a:r>
              <a:rPr lang="en-US" dirty="0"/>
              <a:t> ensure secure and trusted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Monitoring Dashboard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web dashboard</a:t>
            </a:r>
            <a:r>
              <a:rPr lang="en-US" dirty="0"/>
              <a:t> tracks </a:t>
            </a:r>
            <a:r>
              <a:rPr lang="en-US" b="1" dirty="0"/>
              <a:t>node status</a:t>
            </a:r>
            <a:r>
              <a:rPr lang="en-US" dirty="0"/>
              <a:t>, </a:t>
            </a:r>
            <a:r>
              <a:rPr lang="en-US" b="1" dirty="0"/>
              <a:t>latency</a:t>
            </a:r>
            <a:r>
              <a:rPr lang="en-US" dirty="0"/>
              <a:t>, and </a:t>
            </a:r>
            <a:r>
              <a:rPr lang="en-US" b="1" dirty="0"/>
              <a:t>packet delivery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59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272" y="1404173"/>
            <a:ext cx="5935728" cy="3359089"/>
          </a:xfrm>
        </p:spPr>
        <p:txBody>
          <a:bodyPr>
            <a:noAutofit/>
          </a:bodyPr>
          <a:lstStyle/>
          <a:p>
            <a:r>
              <a:rPr lang="en-US" sz="1800" b="1" dirty="0"/>
              <a:t>Scalability:</a:t>
            </a:r>
          </a:p>
          <a:p>
            <a:pPr lvl="1"/>
            <a:r>
              <a:rPr lang="en-US" sz="1800" b="1" dirty="0"/>
              <a:t>Challenge: </a:t>
            </a:r>
            <a:r>
              <a:rPr lang="en-US" sz="1800" dirty="0"/>
              <a:t>Increased nodes could lead to congestion.</a:t>
            </a:r>
          </a:p>
          <a:p>
            <a:pPr lvl="1"/>
            <a:r>
              <a:rPr lang="en-US" sz="1800" b="1" dirty="0"/>
              <a:t>Solution: </a:t>
            </a:r>
            <a:r>
              <a:rPr lang="en-US" sz="1800" dirty="0"/>
              <a:t>Efficient hop-based routing and dynamic path recalculation.</a:t>
            </a:r>
          </a:p>
          <a:p>
            <a:endParaRPr lang="en-US" sz="1800" b="1" dirty="0"/>
          </a:p>
          <a:p>
            <a:r>
              <a:rPr lang="en-US" sz="1800" b="1" dirty="0"/>
              <a:t>Latency:</a:t>
            </a:r>
          </a:p>
          <a:p>
            <a:pPr lvl="1"/>
            <a:r>
              <a:rPr lang="en-US" sz="1800" b="1" dirty="0"/>
              <a:t>Challenge: </a:t>
            </a:r>
            <a:r>
              <a:rPr lang="en-US" sz="1800" dirty="0"/>
              <a:t>Maintaining low latency in a mesh network.</a:t>
            </a:r>
          </a:p>
          <a:p>
            <a:pPr lvl="1"/>
            <a:r>
              <a:rPr lang="en-US" sz="1800" b="1" dirty="0"/>
              <a:t>Solution: </a:t>
            </a:r>
            <a:r>
              <a:rPr lang="en-US" sz="1800" dirty="0"/>
              <a:t>Optimized UDP messaging with minimal overhead.</a:t>
            </a:r>
          </a:p>
          <a:p>
            <a:endParaRPr lang="en-US" sz="1800" b="1" dirty="0"/>
          </a:p>
          <a:p>
            <a:r>
              <a:rPr lang="en-US" sz="1800" b="1" dirty="0"/>
              <a:t>Network Instability:</a:t>
            </a:r>
          </a:p>
          <a:p>
            <a:pPr lvl="1"/>
            <a:r>
              <a:rPr lang="en-US" sz="1800" b="1" dirty="0"/>
              <a:t>Challenge: </a:t>
            </a:r>
            <a:r>
              <a:rPr lang="en-US" sz="1800" dirty="0"/>
              <a:t>Nodes joining/leaving the network.</a:t>
            </a:r>
          </a:p>
          <a:p>
            <a:pPr lvl="1"/>
            <a:r>
              <a:rPr lang="en-US" sz="1800" b="1" dirty="0"/>
              <a:t>Solution: </a:t>
            </a:r>
            <a:r>
              <a:rPr lang="en-US" sz="1800" dirty="0"/>
              <a:t>Self-healing network with automatic reconnection.</a:t>
            </a:r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CHALLENGES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26406F-2EA5-46B7-9A19-582670F05AC3}"/>
              </a:ext>
            </a:extLst>
          </p:cNvPr>
          <p:cNvSpPr/>
          <p:nvPr/>
        </p:nvSpPr>
        <p:spPr>
          <a:xfrm>
            <a:off x="6096000" y="1404173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Energy Consumption: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Challenge: </a:t>
            </a:r>
            <a:r>
              <a:rPr lang="en-US" dirty="0"/>
              <a:t>Low power usage for battery-operated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Solution: </a:t>
            </a:r>
            <a:r>
              <a:rPr lang="en-US" dirty="0"/>
              <a:t>Efficient routing and sleep modes for nodes when inactive.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Challenge: </a:t>
            </a:r>
            <a:r>
              <a:rPr lang="en-US" dirty="0"/>
              <a:t>Ensuring secure communication without performance loss.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Solution: </a:t>
            </a:r>
            <a:r>
              <a:rPr lang="en-US" dirty="0"/>
              <a:t>Lightweight AES encryption and node authentication.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Device Compatibility: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Challenge: </a:t>
            </a:r>
            <a:r>
              <a:rPr lang="en-US" dirty="0"/>
              <a:t>Supporting various IoT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Solution: </a:t>
            </a:r>
            <a:r>
              <a:rPr lang="en-US" dirty="0" err="1"/>
              <a:t>MicroPython</a:t>
            </a:r>
            <a:r>
              <a:rPr lang="en-US" dirty="0"/>
              <a:t> library for easy plug-and-play integration.</a:t>
            </a:r>
            <a:endParaRPr lang="en-US" dirty="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74" y="1447977"/>
            <a:ext cx="11690252" cy="446514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Novel Approach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NexLattice</a:t>
            </a:r>
            <a:r>
              <a:rPr lang="en-US" dirty="0"/>
              <a:t> is a </a:t>
            </a:r>
            <a:r>
              <a:rPr lang="en-US" b="1" dirty="0"/>
              <a:t>unique Wi-Fi mesh protocol</a:t>
            </a:r>
            <a:r>
              <a:rPr lang="en-US" dirty="0"/>
              <a:t> that works across a wide range of IoT devices, providing </a:t>
            </a:r>
            <a:r>
              <a:rPr lang="en-US" b="1" dirty="0"/>
              <a:t>secure, decentralized communication</a:t>
            </a:r>
            <a:r>
              <a:rPr lang="en-US" dirty="0"/>
              <a:t> without relying on external infrastructure like routers.</a:t>
            </a:r>
            <a:endParaRPr lang="en-US" b="1" dirty="0"/>
          </a:p>
          <a:p>
            <a:r>
              <a:rPr lang="en-US" b="1" dirty="0"/>
              <a:t>No Existing Alternatives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Unlike existing protocols (e.g., </a:t>
            </a:r>
            <a:r>
              <a:rPr lang="en-US" b="1" dirty="0"/>
              <a:t>Zigbee</a:t>
            </a:r>
            <a:r>
              <a:rPr lang="en-US" dirty="0"/>
              <a:t>, </a:t>
            </a:r>
            <a:r>
              <a:rPr lang="en-US" b="1" dirty="0" err="1"/>
              <a:t>LoRa</a:t>
            </a:r>
            <a:r>
              <a:rPr lang="en-US" dirty="0"/>
              <a:t>, or </a:t>
            </a:r>
            <a:r>
              <a:rPr lang="en-US" b="1" dirty="0"/>
              <a:t>ESP-MESH</a:t>
            </a:r>
            <a:r>
              <a:rPr lang="en-US" dirty="0"/>
              <a:t>), which often depend on specialized hardware or require </a:t>
            </a:r>
            <a:r>
              <a:rPr lang="en-US" b="1" dirty="0"/>
              <a:t>centralized management</a:t>
            </a:r>
            <a:r>
              <a:rPr lang="en-US" dirty="0"/>
              <a:t>, </a:t>
            </a:r>
            <a:r>
              <a:rPr lang="en-US" b="1" dirty="0" err="1"/>
              <a:t>NexLattice</a:t>
            </a:r>
            <a:r>
              <a:rPr lang="en-US" dirty="0"/>
              <a:t> is based purely on </a:t>
            </a:r>
            <a:r>
              <a:rPr lang="en-US" b="1" dirty="0"/>
              <a:t>Wi-Fi</a:t>
            </a:r>
            <a:r>
              <a:rPr lang="en-US" dirty="0"/>
              <a:t> and operates without </a:t>
            </a:r>
            <a:r>
              <a:rPr lang="en-US" b="1" dirty="0"/>
              <a:t>centralized control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Self-Healing Network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self-healing mesh network</a:t>
            </a:r>
            <a:r>
              <a:rPr lang="en-US" dirty="0"/>
              <a:t> allows nodes to join or leave dynamically, offering </a:t>
            </a:r>
            <a:r>
              <a:rPr lang="en-US" b="1" dirty="0"/>
              <a:t>scalability and flexibility</a:t>
            </a:r>
            <a:r>
              <a:rPr lang="en-US" dirty="0"/>
              <a:t> that most other mesh networks lack.</a:t>
            </a:r>
            <a:endParaRPr lang="en-US" b="1" dirty="0"/>
          </a:p>
          <a:p>
            <a:r>
              <a:rPr lang="en-US" b="1" dirty="0"/>
              <a:t>Plug-and-Play Integration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protocol’s integration into devices like </a:t>
            </a:r>
            <a:r>
              <a:rPr lang="en-US" b="1" dirty="0"/>
              <a:t>ESP32</a:t>
            </a:r>
            <a:r>
              <a:rPr lang="en-US" dirty="0"/>
              <a:t> through </a:t>
            </a:r>
            <a:r>
              <a:rPr lang="en-US" b="1" dirty="0" err="1"/>
              <a:t>MicroPython</a:t>
            </a:r>
            <a:r>
              <a:rPr lang="en-US" dirty="0"/>
              <a:t> makes it </a:t>
            </a:r>
            <a:r>
              <a:rPr lang="en-US" b="1" dirty="0"/>
              <a:t>easy to set up</a:t>
            </a:r>
            <a:r>
              <a:rPr lang="en-US" dirty="0"/>
              <a:t> and use, something not commonly seen in existing mesh protocols.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CURRENT FINDINGS</a:t>
            </a:r>
          </a:p>
          <a:p>
            <a:pPr algn="l"/>
            <a:endParaRPr lang="en-US" sz="3200" dirty="0">
              <a:solidFill>
                <a:srgbClr val="FFFFFF"/>
              </a:solidFill>
              <a:ea typeface="Anton"/>
              <a:cs typeface="Anton"/>
              <a:sym typeface="Anton"/>
            </a:endParaRP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592D-6B19-BB51-E2B0-852BC5AD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2DD2C5-5A4E-456C-AE51-B20C5F8E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075BB-479A-DCC8-8B35-C8C3D56F1B4A}"/>
              </a:ext>
            </a:extLst>
          </p:cNvPr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023AE-CA20-6473-6672-2242CCC30E17}"/>
              </a:ext>
            </a:extLst>
          </p:cNvPr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C4039-C631-E886-BC7D-CC9C0DDC2524}"/>
              </a:ext>
            </a:extLst>
          </p:cNvPr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F718D3-25E1-32E2-18F6-9867F25E092E}"/>
              </a:ext>
            </a:extLst>
          </p:cNvPr>
          <p:cNvSpPr/>
          <p:nvPr/>
        </p:nvSpPr>
        <p:spPr>
          <a:xfrm>
            <a:off x="0" y="331413"/>
            <a:ext cx="12192000" cy="77096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r>
              <a:rPr lang="en-US" sz="3200" dirty="0">
                <a:solidFill>
                  <a:srgbClr val="FFFFFF"/>
                </a:solidFill>
                <a:ea typeface="Anton"/>
                <a:cs typeface="Anton"/>
                <a:sym typeface="Anton"/>
              </a:rPr>
              <a:t>REFERENCES</a:t>
            </a:r>
          </a:p>
          <a:p>
            <a:pPr algn="l"/>
            <a:endParaRPr lang="en-US" sz="3200" dirty="0">
              <a:solidFill>
                <a:srgbClr val="FFFFFF"/>
              </a:solidFill>
              <a:ea typeface="Anton"/>
              <a:cs typeface="Anton"/>
              <a:sym typeface="Anton"/>
            </a:endParaRP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6F160FDA-F5CE-D7C1-5388-43E11A6B5764}"/>
              </a:ext>
            </a:extLst>
          </p:cNvPr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289A86F-D6FB-950C-5A92-2502BEEB3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2307" y="1107476"/>
            <a:ext cx="1172738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[1</a:t>
            </a:r>
            <a:r>
              <a:rPr lang="en-US" sz="1200" dirty="0"/>
              <a:t>] J. M. </a:t>
            </a:r>
            <a:r>
              <a:rPr lang="en-US" sz="1200" dirty="0" err="1"/>
              <a:t>Solé</a:t>
            </a:r>
            <a:r>
              <a:rPr lang="en-US" sz="1200" dirty="0"/>
              <a:t>, R. P. </a:t>
            </a:r>
            <a:r>
              <a:rPr lang="en-US" sz="1200" dirty="0" err="1"/>
              <a:t>Centelles</a:t>
            </a:r>
            <a:r>
              <a:rPr lang="en-US" sz="1200" dirty="0"/>
              <a:t>, F. Freitag, R. </a:t>
            </a:r>
            <a:r>
              <a:rPr lang="en-US" sz="1200" dirty="0" err="1"/>
              <a:t>Meseguer</a:t>
            </a:r>
            <a:r>
              <a:rPr lang="en-US" sz="1200" dirty="0"/>
              <a:t>, and R. </a:t>
            </a:r>
            <a:r>
              <a:rPr lang="en-US" sz="1200" dirty="0" err="1"/>
              <a:t>Baig</a:t>
            </a:r>
            <a:r>
              <a:rPr lang="en-US" sz="1200" dirty="0"/>
              <a:t>, “</a:t>
            </a:r>
            <a:r>
              <a:rPr lang="en-US" sz="1200" b="1" dirty="0"/>
              <a:t>Middleware for Distributed Applications in a </a:t>
            </a:r>
            <a:r>
              <a:rPr lang="en-US" sz="1200" b="1" dirty="0" err="1"/>
              <a:t>LoRa</a:t>
            </a:r>
            <a:r>
              <a:rPr lang="en-US" sz="1200" b="1" dirty="0"/>
              <a:t> Mesh Network</a:t>
            </a:r>
            <a:r>
              <a:rPr lang="en-US" sz="1200" dirty="0"/>
              <a:t>,” ACM Transactions on Embedded Computing Systems, vol. 24, no. 4, Art. 60, pp. 1– 26, Jul. 2025. </a:t>
            </a:r>
            <a:r>
              <a:rPr lang="en-US" sz="1200" dirty="0" err="1"/>
              <a:t>doi</a:t>
            </a:r>
            <a:r>
              <a:rPr lang="en-US" sz="1200" dirty="0"/>
              <a:t>: 10.1145/3747295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[2] </a:t>
            </a:r>
            <a:r>
              <a:rPr lang="en-US" sz="1200" dirty="0"/>
              <a:t>R. </a:t>
            </a:r>
            <a:r>
              <a:rPr lang="en-US" sz="1200" dirty="0" err="1"/>
              <a:t>Berto</a:t>
            </a:r>
            <a:r>
              <a:rPr lang="en-US" sz="1200" dirty="0"/>
              <a:t>, P. </a:t>
            </a:r>
            <a:r>
              <a:rPr lang="en-US" sz="1200" dirty="0" err="1"/>
              <a:t>Napoletano</a:t>
            </a:r>
            <a:r>
              <a:rPr lang="en-US" sz="1200" dirty="0"/>
              <a:t>, and M. </a:t>
            </a:r>
            <a:r>
              <a:rPr lang="en-US" sz="1200" dirty="0" err="1"/>
              <a:t>Savi</a:t>
            </a:r>
            <a:r>
              <a:rPr lang="en-US" sz="1200" dirty="0"/>
              <a:t>, “</a:t>
            </a:r>
            <a:r>
              <a:rPr lang="en-US" sz="1200" b="1" dirty="0"/>
              <a:t>A </a:t>
            </a:r>
            <a:r>
              <a:rPr lang="en-US" sz="1200" b="1" dirty="0" err="1"/>
              <a:t>LoRa</a:t>
            </a:r>
            <a:r>
              <a:rPr lang="en-US" sz="1200" b="1" dirty="0"/>
              <a:t>-Based Mesh Network for Peer-to-Peer Long-Range Communication</a:t>
            </a:r>
            <a:r>
              <a:rPr lang="en-US" sz="1200" dirty="0"/>
              <a:t>,” Sensors, vol. 21, no. 13, p. 4314, Jul. 2021. </a:t>
            </a:r>
            <a:r>
              <a:rPr lang="en-US" sz="1200" dirty="0" err="1"/>
              <a:t>doi</a:t>
            </a:r>
            <a:r>
              <a:rPr lang="en-US" sz="1200" dirty="0"/>
              <a:t>: 10.3390/s21134314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[3] </a:t>
            </a:r>
            <a:r>
              <a:rPr lang="en-US" sz="1200" dirty="0"/>
              <a:t>N. L. </a:t>
            </a:r>
            <a:r>
              <a:rPr lang="en-US" sz="1200" dirty="0" err="1"/>
              <a:t>Giménez</a:t>
            </a:r>
            <a:r>
              <a:rPr lang="en-US" sz="1200" dirty="0"/>
              <a:t> et al., “</a:t>
            </a:r>
            <a:r>
              <a:rPr lang="en-US" sz="1200" b="1" dirty="0"/>
              <a:t>Embedded Federated Learning over a </a:t>
            </a:r>
            <a:r>
              <a:rPr lang="en-US" sz="1200" b="1" dirty="0" err="1"/>
              <a:t>LoRa</a:t>
            </a:r>
            <a:r>
              <a:rPr lang="en-US" sz="1200" b="1" dirty="0"/>
              <a:t> Mesh Network</a:t>
            </a:r>
            <a:r>
              <a:rPr lang="en-US" sz="1200" dirty="0"/>
              <a:t>,” Pervasive and Mobile Computing, vol. 91, p. 101819, 2023. </a:t>
            </a:r>
            <a:r>
              <a:rPr lang="en-US" sz="1200" dirty="0" err="1"/>
              <a:t>doi</a:t>
            </a:r>
            <a:r>
              <a:rPr lang="en-US" sz="1200" dirty="0"/>
              <a:t>: 10.1016/j.pmcj.2023.101819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[4] </a:t>
            </a:r>
            <a:r>
              <a:rPr lang="en-US" sz="1200" dirty="0"/>
              <a:t>Z. Sun et al., “</a:t>
            </a:r>
            <a:r>
              <a:rPr lang="en-US" sz="1200" b="1" dirty="0"/>
              <a:t>Recent Advances in </a:t>
            </a:r>
            <a:r>
              <a:rPr lang="en-US" sz="1200" b="1" dirty="0" err="1"/>
              <a:t>LoRa</a:t>
            </a:r>
            <a:r>
              <a:rPr lang="en-US" sz="1200" b="1" dirty="0"/>
              <a:t>: A Comprehensive Survey</a:t>
            </a:r>
            <a:r>
              <a:rPr lang="en-US" sz="1200" dirty="0"/>
              <a:t>,” ACM Computing Surveys, vol. 55, no. 12, Art. 243, pp. 1–35, Dec. 2022. </a:t>
            </a:r>
            <a:r>
              <a:rPr lang="en-US" sz="1200" dirty="0" err="1"/>
              <a:t>doi</a:t>
            </a:r>
            <a:r>
              <a:rPr lang="en-US" sz="1200" dirty="0"/>
              <a:t>: 10.1145/3543856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[5] </a:t>
            </a:r>
            <a:r>
              <a:rPr lang="en-US" sz="1200" dirty="0"/>
              <a:t>W. Wang, G. He and J. Wan, "</a:t>
            </a:r>
            <a:r>
              <a:rPr lang="en-US" sz="1200" b="1" dirty="0"/>
              <a:t>Research on Zigbee wireless communication technology</a:t>
            </a:r>
            <a:r>
              <a:rPr lang="en-US" sz="1200" dirty="0"/>
              <a:t>," 2011 International Conference on Electrical and Control Engineering, Yichang, China, 2011, pp. 1245-1249, </a:t>
            </a:r>
            <a:r>
              <a:rPr lang="en-US" sz="1200" dirty="0" err="1"/>
              <a:t>doi</a:t>
            </a:r>
            <a:r>
              <a:rPr lang="en-US" sz="1200" dirty="0"/>
              <a:t>: 10.1109/ICECENG.2011.6057961.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[6] </a:t>
            </a:r>
            <a:r>
              <a:rPr lang="en-US" sz="1200" dirty="0"/>
              <a:t>J. </a:t>
            </a:r>
            <a:r>
              <a:rPr lang="en-US" sz="1200" dirty="0" err="1"/>
              <a:t>Bicket</a:t>
            </a:r>
            <a:r>
              <a:rPr lang="en-US" sz="1200" dirty="0"/>
              <a:t>, D. Aguayo, S. Biswas, and R. Morris, “</a:t>
            </a:r>
            <a:r>
              <a:rPr lang="en-US" sz="1200" b="1" dirty="0"/>
              <a:t>Architecture and Evaluation of an Unplanned 802.11b Mesh Network</a:t>
            </a:r>
            <a:r>
              <a:rPr lang="en-US" sz="1200" dirty="0"/>
              <a:t>,” in Proc. of </a:t>
            </a:r>
            <a:r>
              <a:rPr lang="en-US" sz="1200" dirty="0" err="1"/>
              <a:t>MobiCom</a:t>
            </a:r>
            <a:r>
              <a:rPr lang="en-US" sz="1200" dirty="0"/>
              <a:t> 2005, Cologne, Germany, Sep. 2005.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[7] </a:t>
            </a:r>
            <a:r>
              <a:rPr lang="en-US" sz="1200" dirty="0" err="1"/>
              <a:t>Espressif</a:t>
            </a:r>
            <a:r>
              <a:rPr lang="en-US" sz="1200" dirty="0"/>
              <a:t> Systems, “</a:t>
            </a:r>
            <a:r>
              <a:rPr lang="en-US" sz="1200" b="1" dirty="0"/>
              <a:t>ESP-MESH: Networking Solution Based on ESP32</a:t>
            </a:r>
            <a:r>
              <a:rPr lang="en-US" sz="1200" dirty="0"/>
              <a:t>,” 2020. [Online]. Available: https://docs.espressif.com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[8] </a:t>
            </a:r>
            <a:r>
              <a:rPr lang="en-US" sz="1200" dirty="0"/>
              <a:t>S. </a:t>
            </a:r>
            <a:r>
              <a:rPr lang="en-US" sz="1200" dirty="0" err="1"/>
              <a:t>Sicari</a:t>
            </a:r>
            <a:r>
              <a:rPr lang="en-US" sz="1200" dirty="0"/>
              <a:t>, A. </a:t>
            </a:r>
            <a:r>
              <a:rPr lang="en-US" sz="1200" dirty="0" err="1"/>
              <a:t>Rizzardi</a:t>
            </a:r>
            <a:r>
              <a:rPr lang="en-US" sz="1200" dirty="0"/>
              <a:t>, L. A. </a:t>
            </a:r>
            <a:r>
              <a:rPr lang="en-US" sz="1200" dirty="0" err="1"/>
              <a:t>Grieco</a:t>
            </a:r>
            <a:r>
              <a:rPr lang="en-US" sz="1200" dirty="0"/>
              <a:t>, and A. Coen-</a:t>
            </a:r>
            <a:r>
              <a:rPr lang="en-US" sz="1200" dirty="0" err="1"/>
              <a:t>Porisini</a:t>
            </a:r>
            <a:r>
              <a:rPr lang="en-US" sz="1200" dirty="0"/>
              <a:t>, “</a:t>
            </a:r>
            <a:r>
              <a:rPr lang="en-US" sz="1200" b="1" dirty="0"/>
              <a:t>Security, Privacy and Trust in Internet of Things: The Road Ahead</a:t>
            </a:r>
            <a:r>
              <a:rPr lang="en-US" sz="1200" dirty="0"/>
              <a:t>,” Computer Networks, vol. 76, pp. 146–164, 2015.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[9] </a:t>
            </a:r>
            <a:r>
              <a:rPr lang="en-US" sz="1200" dirty="0"/>
              <a:t>E. Fernandes, J. Jung, and A. Prakash, “</a:t>
            </a:r>
            <a:r>
              <a:rPr lang="en-US" sz="1200" b="1" dirty="0"/>
              <a:t>Security Analysis of Emerging Smart Home Applications</a:t>
            </a:r>
            <a:r>
              <a:rPr lang="en-US" sz="1200" dirty="0"/>
              <a:t>,” in Proc. of IEEE Security and Privacy (SP), San Jose, CA, 2016.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[10] </a:t>
            </a:r>
            <a:r>
              <a:rPr lang="en-US" sz="1200" dirty="0"/>
              <a:t>C. M. Ramya, M. </a:t>
            </a:r>
            <a:r>
              <a:rPr lang="en-US" sz="1200" dirty="0" err="1"/>
              <a:t>Shanmugaraj</a:t>
            </a:r>
            <a:r>
              <a:rPr lang="en-US" sz="1200" dirty="0"/>
              <a:t> and R. </a:t>
            </a:r>
            <a:r>
              <a:rPr lang="en-US" sz="1200" dirty="0" err="1"/>
              <a:t>Prabakaran</a:t>
            </a:r>
            <a:r>
              <a:rPr lang="en-US" sz="1200" dirty="0"/>
              <a:t>, "</a:t>
            </a:r>
            <a:r>
              <a:rPr lang="en-US" sz="1200" b="1" dirty="0"/>
              <a:t>Study on ZigBee technology</a:t>
            </a:r>
            <a:r>
              <a:rPr lang="en-US" sz="1200" dirty="0"/>
              <a:t>," 2011 3rd International Conference on Electronics Computer Technology, Kanyakumari, India, 2011, pp. 297-301, </a:t>
            </a:r>
            <a:r>
              <a:rPr lang="en-US" sz="1200" dirty="0" err="1"/>
              <a:t>doi</a:t>
            </a:r>
            <a:r>
              <a:rPr lang="en-US" sz="1200" dirty="0"/>
              <a:t>: 10.1109/ICECTECH.2011.5942102.</a:t>
            </a:r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endParaRPr lang="en-US" sz="1200" dirty="0"/>
          </a:p>
          <a:p>
            <a:pPr marL="91440" indent="0">
              <a:lnSpc>
                <a:spcPct val="100000"/>
              </a:lnSpc>
              <a:spcBef>
                <a:spcPts val="10"/>
              </a:spcBef>
              <a:buNone/>
            </a:pPr>
            <a:r>
              <a:rPr lang="en-US" sz="1200" b="1" dirty="0"/>
              <a:t>[11] </a:t>
            </a:r>
            <a:r>
              <a:rPr lang="en-US" sz="1200" dirty="0"/>
              <a:t>A. N. A. A. Aziz, R. A. Rashid, M. N. M. Nasir and M. A. </a:t>
            </a:r>
            <a:r>
              <a:rPr lang="en-US" sz="1200" dirty="0" err="1"/>
              <a:t>Sarijari</a:t>
            </a:r>
            <a:r>
              <a:rPr lang="en-US" sz="1200" dirty="0"/>
              <a:t>, "</a:t>
            </a:r>
            <a:r>
              <a:rPr lang="en-US" sz="1200" b="1" dirty="0"/>
              <a:t>ESP Mesh Network for Security Application</a:t>
            </a:r>
            <a:r>
              <a:rPr lang="en-US" sz="1200" dirty="0"/>
              <a:t>," 2024 IEEE International Conference on Advanced Telecommunication and Networking Technologies (ATNT), Johor Bahru, Malaysia, 2024, pp. 1-4, </a:t>
            </a:r>
            <a:r>
              <a:rPr lang="en-US" sz="1200" dirty="0" err="1"/>
              <a:t>doi</a:t>
            </a:r>
            <a:r>
              <a:rPr lang="en-US" sz="1200" dirty="0"/>
              <a:t>: 10.1109/ATNT61688.2024.10719207.</a:t>
            </a:r>
          </a:p>
        </p:txBody>
      </p:sp>
    </p:spTree>
    <p:extLst>
      <p:ext uri="{BB962C8B-B14F-4D97-AF65-F5344CB8AC3E}">
        <p14:creationId xmlns:p14="http://schemas.microsoft.com/office/powerpoint/2010/main" val="487704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7175"/>
            <a:ext cx="12192000" cy="35858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nton"/>
              </a:rPr>
              <a:t>Quality Assessment &amp; Morphometric Analysis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988"/>
            <a:ext cx="6096000" cy="251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ea typeface="Inter Medium"/>
                <a:cs typeface="Inter Medium"/>
                <a:sym typeface="Inter Medium"/>
              </a:rPr>
              <a:t>FACULTY OF COMPUTER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7753" y="6606988"/>
            <a:ext cx="5576047" cy="2510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Inter Medium"/>
                <a:cs typeface="Inter Medium"/>
                <a:sym typeface="Inter Medium"/>
              </a:rPr>
              <a:t>ASSAM DOWN TOWN UNIVERSITY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6606988"/>
            <a:ext cx="838200" cy="251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6267" y="2561773"/>
            <a:ext cx="9347200" cy="1734454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</a:t>
            </a:r>
          </a:p>
        </p:txBody>
      </p:sp>
      <p:sp>
        <p:nvSpPr>
          <p:cNvPr id="9" name="Freeform 2"/>
          <p:cNvSpPr/>
          <p:nvPr/>
        </p:nvSpPr>
        <p:spPr>
          <a:xfrm>
            <a:off x="10192872" y="5755622"/>
            <a:ext cx="1990165" cy="851366"/>
          </a:xfrm>
          <a:custGeom>
            <a:avLst/>
            <a:gdLst/>
            <a:ahLst/>
            <a:cxnLst/>
            <a:rect l="l" t="t" r="r" b="b"/>
            <a:pathLst>
              <a:path w="4787205" h="1629079">
                <a:moveTo>
                  <a:pt x="0" y="0"/>
                </a:moveTo>
                <a:lnTo>
                  <a:pt x="4787204" y="0"/>
                </a:lnTo>
                <a:lnTo>
                  <a:pt x="4787204" y="1629079"/>
                </a:lnTo>
                <a:lnTo>
                  <a:pt x="0" y="162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2501</Words>
  <Application>Microsoft Office PowerPoint</Application>
  <PresentationFormat>Widescreen</PresentationFormat>
  <Paragraphs>286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Anton</vt:lpstr>
      <vt:lpstr>Arial</vt:lpstr>
      <vt:lpstr>Arial Narrow</vt:lpstr>
      <vt:lpstr>Britannic Bold</vt:lpstr>
      <vt:lpstr>Calibri</vt:lpstr>
      <vt:lpstr>Calibri Light</vt:lpstr>
      <vt:lpstr>Inter Medium</vt:lpstr>
      <vt:lpstr>Wingdings</vt:lpstr>
      <vt:lpstr>Office Theme</vt:lpstr>
      <vt:lpstr>PowerPoint Presentation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  <vt:lpstr>Quality Assessment &amp; Morphometric Analysis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Clame Sys</cp:lastModifiedBy>
  <cp:revision>29</cp:revision>
  <dcterms:created xsi:type="dcterms:W3CDTF">2025-12-04T17:07:00Z</dcterms:created>
  <dcterms:modified xsi:type="dcterms:W3CDTF">2025-12-21T17:50:05Z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1944DDC9A8A94A5AB55C8FF17793BBC8_13</vt:lpwstr>
  </property>
  <property fmtid="{D5CDD505-2E9C-101B-9397-08002B2CF9AE}" pid="3" name="KSOProductBuildVer">
    <vt:lpwstr>2057-12.2.0.23149</vt:lpwstr>
  </property>
</Properties>
</file>